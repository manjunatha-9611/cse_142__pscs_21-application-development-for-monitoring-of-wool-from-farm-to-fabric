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74" r:id="rId5"/>
    <p:sldId id="275" r:id="rId6"/>
    <p:sldId id="276" r:id="rId7"/>
    <p:sldId id="273" r:id="rId8"/>
    <p:sldId id="268" r:id="rId9"/>
    <p:sldId id="277" r:id="rId10"/>
    <p:sldId id="271" r:id="rId11"/>
    <p:sldId id="272" r:id="rId12"/>
    <p:sldId id="278" r:id="rId13"/>
    <p:sldId id="270" r:id="rId14"/>
    <p:sldId id="279"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varScale="1">
        <p:scale>
          <a:sx n="74" d="100"/>
          <a:sy n="74" d="100"/>
        </p:scale>
        <p:origin x="10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88272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70889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anjunatha-9611/CSE_142__PSCS_21-Application-Development-for-monitoring-of-wool-from-Farm-to-fabric"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01980" y="241872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err="1">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Dr.T</a:t>
            </a: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Ramesh</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Assistant Professor</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91" name="Google Shape;91;p13"/>
          <p:cNvSpPr txBox="1"/>
          <p:nvPr/>
        </p:nvSpPr>
        <p:spPr>
          <a:xfrm>
            <a:off x="3346513" y="11173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CSE7101-</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Capstone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Review-5</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1182118" y="4716957"/>
            <a:ext cx="895618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1800" b="1" i="0" u="none" strike="noStrike" cap="none"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B.Tech</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Computer Science And Engineering</a:t>
            </a: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1800" b="1" dirty="0">
                <a:latin typeface="Times New Roman" panose="02020603050405020304" pitchFamily="18" charset="0"/>
                <a:ea typeface="Cambria" panose="02040503050406030204" pitchFamily="18" charset="0"/>
                <a:cs typeface="Times New Roman" panose="02020603050405020304" pitchFamily="18" charset="0"/>
              </a:rPr>
              <a:t>Dr. Asif Mohammed</a:t>
            </a:r>
          </a:p>
          <a:p>
            <a:pPr lvl="0">
              <a:buClr>
                <a:srgbClr val="17365D"/>
              </a:buClr>
              <a:buSzPct val="100000"/>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IN" sz="1800" b="1" dirty="0">
                <a:latin typeface="Times New Roman" panose="02020603050405020304" pitchFamily="18" charset="0"/>
                <a:ea typeface="Cambria" panose="02040503050406030204" pitchFamily="18" charset="0"/>
                <a:cs typeface="Times New Roman" panose="02020603050405020304" pitchFamily="18" charset="0"/>
              </a:rPr>
              <a:t>Dr. </a:t>
            </a:r>
            <a:r>
              <a:rPr lang="en-IN" sz="1800" b="1" dirty="0" err="1">
                <a:latin typeface="Times New Roman" panose="02020603050405020304" pitchFamily="18" charset="0"/>
                <a:ea typeface="Cambria" panose="02040503050406030204" pitchFamily="18" charset="0"/>
                <a:cs typeface="Times New Roman" panose="02020603050405020304" pitchFamily="18" charset="0"/>
              </a:rPr>
              <a:t>Jayavadivel</a:t>
            </a:r>
            <a:r>
              <a:rPr lang="en-IN" sz="1800" b="1" dirty="0">
                <a:latin typeface="Times New Roman" panose="02020603050405020304" pitchFamily="18" charset="0"/>
                <a:ea typeface="Cambria" panose="02040503050406030204" pitchFamily="18" charset="0"/>
                <a:cs typeface="Times New Roman" panose="02020603050405020304" pitchFamily="18" charset="0"/>
              </a:rPr>
              <a:t> Ravi</a:t>
            </a:r>
            <a:endParaRPr lang="en-US" sz="1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t>
            </a:r>
            <a:r>
              <a:rPr lang="en-US" sz="1800" b="1" i="0" u="none" strike="noStrike" cap="none"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Sampath</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A K , Dr. </a:t>
            </a:r>
            <a:r>
              <a:rPr lang="en-US" sz="1800" b="1" i="0" u="none" strike="noStrike" cap="none"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Geetha</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A </a:t>
            </a:r>
            <a:endParaRPr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graphicFrame>
        <p:nvGraphicFramePr>
          <p:cNvPr id="2" name="Table 1">
            <a:extLst>
              <a:ext uri="{FF2B5EF4-FFF2-40B4-BE49-F238E27FC236}">
                <a16:creationId xmlns:a16="http://schemas.microsoft.com/office/drawing/2014/main" id="{7222FD6B-8EE0-E2F4-F299-55C4A4569445}"/>
              </a:ext>
            </a:extLst>
          </p:cNvPr>
          <p:cNvGraphicFramePr>
            <a:graphicFrameLocks noGrp="1"/>
          </p:cNvGraphicFramePr>
          <p:nvPr>
            <p:extLst>
              <p:ext uri="{D42A27DB-BD31-4B8C-83A1-F6EECF244321}">
                <p14:modId xmlns:p14="http://schemas.microsoft.com/office/powerpoint/2010/main" val="1819778284"/>
              </p:ext>
            </p:extLst>
          </p:nvPr>
        </p:nvGraphicFramePr>
        <p:xfrm>
          <a:off x="790422" y="2605605"/>
          <a:ext cx="5211558" cy="1768710"/>
        </p:xfrm>
        <a:graphic>
          <a:graphicData uri="http://schemas.openxmlformats.org/drawingml/2006/table">
            <a:tbl>
              <a:tblPr firstRow="1" bandRow="1"/>
              <a:tblGrid>
                <a:gridCol w="2605779">
                  <a:extLst>
                    <a:ext uri="{9D8B030D-6E8A-4147-A177-3AD203B41FA5}">
                      <a16:colId xmlns:a16="http://schemas.microsoft.com/office/drawing/2014/main" val="1875651650"/>
                    </a:ext>
                  </a:extLst>
                </a:gridCol>
                <a:gridCol w="2605779">
                  <a:extLst>
                    <a:ext uri="{9D8B030D-6E8A-4147-A177-3AD203B41FA5}">
                      <a16:colId xmlns:a16="http://schemas.microsoft.com/office/drawing/2014/main" val="1736351963"/>
                    </a:ext>
                  </a:extLst>
                </a:gridCol>
              </a:tblGrid>
              <a:tr h="3869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2000" b="1" u="none" strike="noStrike" cap="none" dirty="0">
                          <a:solidFill>
                            <a:srgbClr val="17365D"/>
                          </a:solidFill>
                          <a:latin typeface="Cambria" panose="02040503050406030204" pitchFamily="18" charset="0"/>
                          <a:ea typeface="Cambria" panose="02040503050406030204" pitchFamily="18" charset="0"/>
                        </a:rPr>
                        <a:t>Roll Number</a:t>
                      </a:r>
                    </a:p>
                    <a:p>
                      <a:pPr algn="ct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2000" b="1" u="none" strike="noStrike" cap="none" dirty="0">
                          <a:solidFill>
                            <a:srgbClr val="17365D"/>
                          </a:solidFill>
                          <a:latin typeface="Cambria" panose="02040503050406030204" pitchFamily="18" charset="0"/>
                          <a:ea typeface="Cambria" panose="02040503050406030204" pitchFamily="18" charset="0"/>
                        </a:rPr>
                        <a:t>Student Name</a:t>
                      </a:r>
                    </a:p>
                    <a:p>
                      <a:pPr algn="ct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39552555"/>
                  </a:ext>
                </a:extLst>
              </a:tr>
              <a:tr h="386950">
                <a:tc>
                  <a:txBody>
                    <a:bodyPr/>
                    <a:lstStyle/>
                    <a:p>
                      <a:pPr algn="ctr"/>
                      <a:r>
                        <a:rPr lang="en-US" sz="1600" b="1" dirty="0">
                          <a:latin typeface="Cambria" panose="02040503050406030204" pitchFamily="18" charset="0"/>
                          <a:ea typeface="Cambria" panose="02040503050406030204" pitchFamily="18" charset="0"/>
                        </a:rPr>
                        <a:t>20221CSE0600</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1600" b="1" dirty="0">
                          <a:latin typeface="Cambria" panose="02040503050406030204" pitchFamily="18" charset="0"/>
                          <a:ea typeface="Cambria" panose="02040503050406030204" pitchFamily="18" charset="0"/>
                        </a:rPr>
                        <a:t>Manjunatha</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467715074"/>
                  </a:ext>
                </a:extLst>
              </a:tr>
              <a:tr h="370840">
                <a:tc>
                  <a:txBody>
                    <a:bodyPr/>
                    <a:lstStyle/>
                    <a:p>
                      <a:pPr algn="ctr"/>
                      <a:r>
                        <a:rPr lang="en-US" sz="1600" b="1" dirty="0">
                          <a:latin typeface="Cambria" panose="02040503050406030204" pitchFamily="18" charset="0"/>
                          <a:ea typeface="Cambria" panose="02040503050406030204" pitchFamily="18" charset="0"/>
                        </a:rPr>
                        <a:t>20221CSE0599</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1600" b="1" dirty="0">
                          <a:latin typeface="Cambria" panose="02040503050406030204" pitchFamily="18" charset="0"/>
                          <a:ea typeface="Cambria" panose="02040503050406030204" pitchFamily="18" charset="0"/>
                        </a:rPr>
                        <a:t>Mamatha S M</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67083540"/>
                  </a:ext>
                </a:extLst>
              </a:tr>
              <a:tr h="370840">
                <a:tc>
                  <a:txBody>
                    <a:bodyPr/>
                    <a:lstStyle/>
                    <a:p>
                      <a:pPr algn="ctr"/>
                      <a:r>
                        <a:rPr lang="en-US" sz="1600" b="1" dirty="0">
                          <a:latin typeface="Cambria" panose="02040503050406030204" pitchFamily="18" charset="0"/>
                          <a:ea typeface="Cambria" panose="02040503050406030204" pitchFamily="18" charset="0"/>
                        </a:rPr>
                        <a:t>20221CSE0569</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1600" b="1" dirty="0">
                          <a:latin typeface="Cambria" panose="02040503050406030204" pitchFamily="18" charset="0"/>
                          <a:ea typeface="Cambria" panose="02040503050406030204" pitchFamily="18" charset="0"/>
                        </a:rPr>
                        <a:t>Archana P</a:t>
                      </a:r>
                      <a:endParaRPr lang="en-IN" sz="1600" b="1" dirty="0">
                        <a:latin typeface="Cambria" panose="02040503050406030204" pitchFamily="18" charset="0"/>
                        <a:ea typeface="Cambria" panose="020405030504060302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73471259"/>
                  </a:ext>
                </a:extLst>
              </a:tr>
            </a:tbl>
          </a:graphicData>
        </a:graphic>
      </p:graphicFrame>
      <p:sp>
        <p:nvSpPr>
          <p:cNvPr id="4" name="Title 3">
            <a:extLst>
              <a:ext uri="{FF2B5EF4-FFF2-40B4-BE49-F238E27FC236}">
                <a16:creationId xmlns:a16="http://schemas.microsoft.com/office/drawing/2014/main" id="{BB6D9990-4255-E154-1207-6DF1D30A0686}"/>
              </a:ext>
            </a:extLst>
          </p:cNvPr>
          <p:cNvSpPr>
            <a:spLocks noGrp="1"/>
          </p:cNvSpPr>
          <p:nvPr>
            <p:ph type="ctrTitle"/>
          </p:nvPr>
        </p:nvSpPr>
        <p:spPr>
          <a:xfrm>
            <a:off x="914399" y="807879"/>
            <a:ext cx="10363200" cy="1470000"/>
          </a:xfrm>
        </p:spPr>
        <p:txBody>
          <a:bodyPr/>
          <a:lstStyle/>
          <a:p>
            <a:pPr lvl="0" algn="ctr"/>
            <a:r>
              <a:rPr lang="en-US" sz="2000" dirty="0">
                <a:latin typeface="Times New Roman" panose="02020603050405020304" pitchFamily="18" charset="0"/>
                <a:ea typeface="Cambria" panose="02040503050406030204" pitchFamily="18" charset="0"/>
                <a:cs typeface="Times New Roman" panose="02020603050405020304" pitchFamily="18" charset="0"/>
              </a:rPr>
              <a:t> Batch Number:  CSE_142      </a:t>
            </a:r>
            <a:br>
              <a:rPr lang="en-US" sz="2000" dirty="0">
                <a:latin typeface="Times New Roman" panose="02020603050405020304" pitchFamily="18" charset="0"/>
                <a:ea typeface="Cambria" panose="020405030504060302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Application Development for monitoring of wool from Farm to fabric</a:t>
            </a:r>
            <a:br>
              <a:rPr lang="en-US" sz="1800" dirty="0">
                <a:latin typeface="Times New Roman" panose="02020603050405020304" pitchFamily="18" charset="0"/>
                <a:ea typeface="Cambria" panose="020405030504060302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PSCS_21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177553" y="914400"/>
            <a:ext cx="11303247" cy="5211192"/>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b="1" dirty="0">
                <a:latin typeface="Times New Roman" panose="02020603050405020304" pitchFamily="18" charset="0"/>
                <a:ea typeface="Cambria" panose="02040503050406030204" pitchFamily="18" charset="0"/>
                <a:cs typeface="Times New Roman" panose="02020603050405020304" pitchFamily="18" charset="0"/>
              </a:rPr>
              <a:t>Ministry of Textiles</a:t>
            </a: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Category (Hardware / Software / Both) :          </a:t>
            </a:r>
            <a:r>
              <a:rPr lang="en-US" b="1"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gn="just">
              <a:lnSpc>
                <a:spcPct val="200000"/>
              </a:lnSpc>
              <a:spcBef>
                <a:spcPts val="0"/>
              </a:spcBef>
              <a:buNone/>
            </a:pPr>
            <a:r>
              <a:rPr lang="en-US" sz="1500" dirty="0">
                <a:latin typeface="Times New Roman" panose="02020603050405020304" pitchFamily="18" charset="0"/>
                <a:ea typeface="Cambria" panose="02040503050406030204" pitchFamily="18" charset="0"/>
                <a:cs typeface="Times New Roman" panose="02020603050405020304" pitchFamily="18" charset="0"/>
              </a:rPr>
              <a:t>An App-based solution for the wool sector in India which can have the following features is required: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 1. </a:t>
            </a:r>
            <a:r>
              <a:rPr lang="en-US" sz="1800" b="1"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Wool Market Information</a:t>
            </a:r>
            <a:r>
              <a:rPr lang="en-US" sz="18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Provide real-time market information on wool prices, trends, and news.</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 2. </a:t>
            </a:r>
            <a:r>
              <a:rPr lang="en-US" sz="1800" b="1"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Wool Tracking</a:t>
            </a:r>
            <a:r>
              <a:rPr lang="en-US" sz="18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Allows users to track the production and transport of their wool from farm to market.</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 3</a:t>
            </a:r>
            <a:r>
              <a:rPr lang="en-US" sz="18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 </a:t>
            </a:r>
            <a:r>
              <a:rPr lang="en-US" sz="1800" b="1"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Quality Assurance</a:t>
            </a:r>
            <a:r>
              <a:rPr lang="en-US" sz="1800" b="1" dirty="0">
                <a:latin typeface="Times New Roman" panose="02020603050405020304" pitchFamily="18" charset="0"/>
                <a:ea typeface="Cambria" panose="02040503050406030204" pitchFamily="18" charset="0"/>
                <a:cs typeface="Times New Roman" panose="02020603050405020304" pitchFamily="18" charset="0"/>
              </a:rPr>
              <a:t>:</a:t>
            </a:r>
            <a:r>
              <a:rPr lang="en-US" sz="1800" dirty="0">
                <a:latin typeface="Times New Roman" panose="02020603050405020304" pitchFamily="18" charset="0"/>
                <a:ea typeface="Cambria" panose="02040503050406030204" pitchFamily="18" charset="0"/>
                <a:cs typeface="Times New Roman" panose="02020603050405020304" pitchFamily="18" charset="0"/>
              </a:rPr>
              <a:t>          Provides a platform for wool producers to ensure the quality of their wool and access to wool grading services.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4. </a:t>
            </a:r>
            <a:r>
              <a:rPr lang="en-US" sz="1800" b="1" dirty="0">
                <a:latin typeface="Times New Roman" panose="02020603050405020304" pitchFamily="18" charset="0"/>
                <a:ea typeface="Cambria" panose="02040503050406030204" pitchFamily="18" charset="0"/>
                <a:cs typeface="Times New Roman" panose="02020603050405020304" pitchFamily="18" charset="0"/>
              </a:rPr>
              <a:t>Wool Storage and Warehousing:        </a:t>
            </a:r>
            <a:r>
              <a:rPr lang="en-US" sz="1800" dirty="0">
                <a:latin typeface="Times New Roman" panose="02020603050405020304" pitchFamily="18" charset="0"/>
                <a:ea typeface="Cambria" panose="02040503050406030204" pitchFamily="18" charset="0"/>
                <a:cs typeface="Times New Roman" panose="02020603050405020304" pitchFamily="18" charset="0"/>
              </a:rPr>
              <a:t>Helps farmers store and manage their wool inventory.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5. </a:t>
            </a:r>
            <a:r>
              <a:rPr lang="en-US" sz="1800" b="1" dirty="0">
                <a:latin typeface="Times New Roman" panose="02020603050405020304" pitchFamily="18" charset="0"/>
                <a:ea typeface="Cambria" panose="02040503050406030204" pitchFamily="18" charset="0"/>
                <a:cs typeface="Times New Roman" panose="02020603050405020304" pitchFamily="18" charset="0"/>
              </a:rPr>
              <a:t>Wool Processing:           </a:t>
            </a:r>
            <a:r>
              <a:rPr lang="en-US" sz="1800" dirty="0">
                <a:latin typeface="Times New Roman" panose="02020603050405020304" pitchFamily="18" charset="0"/>
                <a:ea typeface="Cambria" panose="02040503050406030204" pitchFamily="18" charset="0"/>
                <a:cs typeface="Times New Roman" panose="02020603050405020304" pitchFamily="18" charset="0"/>
              </a:rPr>
              <a:t>Helps farmers access wool processing services such as shearing, sorting and dyeing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6</a:t>
            </a:r>
            <a:r>
              <a:rPr lang="en-US" sz="18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 </a:t>
            </a:r>
            <a:r>
              <a:rPr lang="en-US" sz="1800" b="1"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Wool Trading Platform</a:t>
            </a:r>
            <a:r>
              <a:rPr lang="en-US" sz="18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Allows wool producers to buy and sell wool directly from other farmers or buyers.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7. </a:t>
            </a:r>
            <a:r>
              <a:rPr lang="en-US" sz="1800" b="1"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Online Wool Marketplace</a:t>
            </a:r>
            <a:r>
              <a:rPr lang="en-US" sz="18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 Provides a platform for wool producers to sell their wool directly to buyers </a:t>
            </a:r>
          </a:p>
          <a:p>
            <a:pPr marL="342900" lvl="0" indent="-190500" algn="just">
              <a:lnSpc>
                <a:spcPct val="200000"/>
              </a:lnSpc>
              <a:spcBef>
                <a:spcPts val="0"/>
              </a:spcBef>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8. </a:t>
            </a:r>
            <a:r>
              <a:rPr lang="en-US" sz="1800" b="1" dirty="0">
                <a:latin typeface="Times New Roman" panose="02020603050405020304" pitchFamily="18" charset="0"/>
                <a:ea typeface="Cambria" panose="02040503050406030204" pitchFamily="18" charset="0"/>
                <a:cs typeface="Times New Roman" panose="02020603050405020304" pitchFamily="18" charset="0"/>
              </a:rPr>
              <a:t>Wool Education and Training:  </a:t>
            </a:r>
            <a:r>
              <a:rPr lang="en-US" sz="1800" dirty="0">
                <a:latin typeface="Times New Roman" panose="02020603050405020304" pitchFamily="18" charset="0"/>
                <a:ea typeface="Cambria" panose="02040503050406030204" pitchFamily="18" charset="0"/>
                <a:cs typeface="Times New Roman" panose="02020603050405020304" pitchFamily="18" charset="0"/>
              </a:rPr>
              <a:t>Provides a list of wool producers/artisans region-wise, and state-wise data to provide educational resources 			    and training to help them improve their production, quality, design and marketing skills.</a:t>
            </a:r>
            <a:endParaRPr lang="en-US" sz="31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5" name="Title 4">
            <a:extLst>
              <a:ext uri="{FF2B5EF4-FFF2-40B4-BE49-F238E27FC236}">
                <a16:creationId xmlns:a16="http://schemas.microsoft.com/office/drawing/2014/main" id="{8C624BA0-CA92-3DD1-9FF9-15C988758642}"/>
              </a:ext>
            </a:extLst>
          </p:cNvPr>
          <p:cNvSpPr>
            <a:spLocks noGrp="1"/>
          </p:cNvSpPr>
          <p:nvPr>
            <p:ph type="title"/>
          </p:nvPr>
        </p:nvSpPr>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Abstract</a:t>
            </a:r>
          </a:p>
        </p:txBody>
      </p:sp>
      <p:sp>
        <p:nvSpPr>
          <p:cNvPr id="6" name="TextBox 5">
            <a:extLst>
              <a:ext uri="{FF2B5EF4-FFF2-40B4-BE49-F238E27FC236}">
                <a16:creationId xmlns:a16="http://schemas.microsoft.com/office/drawing/2014/main" id="{22919C05-2966-FBDB-E773-14DD025A81B0}"/>
              </a:ext>
            </a:extLst>
          </p:cNvPr>
          <p:cNvSpPr txBox="1"/>
          <p:nvPr/>
        </p:nvSpPr>
        <p:spPr>
          <a:xfrm>
            <a:off x="1201304" y="1063474"/>
            <a:ext cx="9890991" cy="50285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i="1" dirty="0">
                <a:latin typeface="Times New Roman" panose="02020603050405020304" pitchFamily="18" charset="0"/>
                <a:cs typeface="Times New Roman" panose="02020603050405020304" pitchFamily="18" charset="0"/>
              </a:rPr>
              <a:t>“Farm to Fabric: Wool Monitoring Application”</a:t>
            </a:r>
            <a:r>
              <a:rPr lang="en-US" sz="1800" dirty="0">
                <a:latin typeface="Times New Roman" panose="02020603050405020304" pitchFamily="18" charset="0"/>
                <a:cs typeface="Times New Roman" panose="02020603050405020304" pitchFamily="18" charset="0"/>
              </a:rPr>
              <a:t> is an innovative digital solution that enables complete transparency and traceability in the wool supply chain.</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It connects farmers, processors, manufacturers, and retailers on a single platform to monitor each stage — from wool collection to final fabric production.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assigns unique batch IDs to track wool movement and ensure quality verification in real time.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Developed with a modular architecture using modern web technologies, it ensures secure data flow and role-based access.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By reducing manual errors and improving accountability, the application promotes sustainable and efficient supply chain management.</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It also supports </a:t>
            </a:r>
            <a:r>
              <a:rPr lang="en-US" sz="1800" b="1" dirty="0">
                <a:latin typeface="Times New Roman" panose="02020603050405020304" pitchFamily="18" charset="0"/>
                <a:cs typeface="Times New Roman" panose="02020603050405020304" pitchFamily="18" charset="0"/>
              </a:rPr>
              <a:t>UN SDG 9</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SDG 12</a:t>
            </a:r>
            <a:r>
              <a:rPr lang="en-US" sz="1800" dirty="0">
                <a:latin typeface="Times New Roman" panose="02020603050405020304" pitchFamily="18" charset="0"/>
                <a:cs typeface="Times New Roman" panose="02020603050405020304" pitchFamily="18" charset="0"/>
              </a:rPr>
              <a:t> by fostering responsible production and industrial innovation.</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559729" y="186761"/>
            <a:ext cx="10668000" cy="487500"/>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Objectives</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7A56FE7-C712-568B-E718-A26A003449BC}"/>
              </a:ext>
            </a:extLst>
          </p:cNvPr>
          <p:cNvSpPr txBox="1"/>
          <p:nvPr/>
        </p:nvSpPr>
        <p:spPr>
          <a:xfrm>
            <a:off x="763793" y="1129553"/>
            <a:ext cx="10176734" cy="5382051"/>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develop</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digital platform that monitors and manages the entire wool supply chain from farms to fabric production.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transparency and traceability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recording every stage of the wool lifecycle with real-time updates and status tracking.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role-based access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different stakeholders such as farmers, processors, manufacturers, retailers, and consumers for secure and efficient interaction.</a:t>
            </a:r>
          </a:p>
          <a:p>
            <a:pPr lvl="0" eaLnBrk="0" fontAlgn="base" hangingPunct="0">
              <a:lnSpc>
                <a:spcPct val="200000"/>
              </a:lnSpc>
              <a:spcBef>
                <a:spcPct val="0"/>
              </a:spcBef>
              <a:spcAft>
                <a:spcPct val="0"/>
              </a:spcAft>
              <a:buClrTx/>
              <a:buFontTx/>
              <a:buChar char="•"/>
            </a:pPr>
            <a:r>
              <a:rPr lang="en-US" altLang="en-US" sz="1600" b="1" dirty="0">
                <a:solidFill>
                  <a:schemeClr val="tx1"/>
                </a:solidFill>
                <a:latin typeface="Times New Roman" panose="02020603050405020304" pitchFamily="18" charset="0"/>
                <a:cs typeface="Times New Roman" panose="02020603050405020304" pitchFamily="18" charset="0"/>
              </a:rPr>
              <a:t>To promote sustainable and responsible production</a:t>
            </a:r>
            <a:r>
              <a:rPr lang="en-US" altLang="en-US" sz="1600" dirty="0">
                <a:solidFill>
                  <a:schemeClr val="tx1"/>
                </a:solidFill>
                <a:latin typeface="Times New Roman" panose="02020603050405020304" pitchFamily="18" charset="0"/>
                <a:cs typeface="Times New Roman" panose="02020603050405020304" pitchFamily="18" charset="0"/>
              </a:rPr>
              <a:t> practices aligning with </a:t>
            </a:r>
            <a:r>
              <a:rPr lang="en-US" altLang="en-US" sz="1600" b="1" dirty="0">
                <a:solidFill>
                  <a:schemeClr val="tx1"/>
                </a:solidFill>
                <a:latin typeface="Times New Roman" panose="02020603050405020304" pitchFamily="18" charset="0"/>
                <a:cs typeface="Times New Roman" panose="02020603050405020304" pitchFamily="18" charset="0"/>
              </a:rPr>
              <a:t>UN SDG 9</a:t>
            </a:r>
            <a:r>
              <a:rPr lang="en-US" altLang="en-US" sz="1600" dirty="0">
                <a:solidFill>
                  <a:schemeClr val="tx1"/>
                </a:solidFill>
                <a:latin typeface="Times New Roman" panose="02020603050405020304" pitchFamily="18" charset="0"/>
                <a:cs typeface="Times New Roman" panose="02020603050405020304" pitchFamily="18" charset="0"/>
              </a:rPr>
              <a:t> (Industry, Innovation &amp; Infrastructure) and </a:t>
            </a:r>
            <a:r>
              <a:rPr lang="en-US" altLang="en-US" sz="1600" b="1" dirty="0">
                <a:solidFill>
                  <a:schemeClr val="tx1"/>
                </a:solidFill>
                <a:latin typeface="Times New Roman" panose="02020603050405020304" pitchFamily="18" charset="0"/>
                <a:cs typeface="Times New Roman" panose="02020603050405020304" pitchFamily="18" charset="0"/>
              </a:rPr>
              <a:t>SDG 12</a:t>
            </a:r>
            <a:r>
              <a:rPr lang="en-US" altLang="en-US" sz="1600" dirty="0">
                <a:solidFill>
                  <a:schemeClr val="tx1"/>
                </a:solidFill>
                <a:latin typeface="Times New Roman" panose="02020603050405020304" pitchFamily="18" charset="0"/>
                <a:cs typeface="Times New Roman" panose="02020603050405020304" pitchFamily="18" charset="0"/>
              </a:rPr>
              <a:t> (Responsible Consumption &amp; Production).</a:t>
            </a:r>
          </a:p>
          <a:p>
            <a:pPr lvl="0" eaLnBrk="0" fontAlgn="base" hangingPunct="0">
              <a:lnSpc>
                <a:spcPct val="200000"/>
              </a:lnSpc>
              <a:spcBef>
                <a:spcPct val="0"/>
              </a:spcBef>
              <a:spcAft>
                <a:spcPct val="0"/>
              </a:spcAft>
              <a:buClrTx/>
              <a:buFontTx/>
              <a:buChar char="•"/>
            </a:pPr>
            <a:r>
              <a:rPr lang="en-US" altLang="en-US" sz="1600" b="1" dirty="0">
                <a:solidFill>
                  <a:schemeClr val="tx1"/>
                </a:solidFill>
                <a:latin typeface="Times New Roman" panose="02020603050405020304" pitchFamily="18" charset="0"/>
                <a:cs typeface="Times New Roman" panose="02020603050405020304" pitchFamily="18" charset="0"/>
              </a:rPr>
              <a:t>To build a scalable and user-friendly application</a:t>
            </a:r>
            <a:r>
              <a:rPr lang="en-US" altLang="en-US" sz="1600" dirty="0">
                <a:solidFill>
                  <a:schemeClr val="tx1"/>
                </a:solidFill>
                <a:latin typeface="Times New Roman" panose="02020603050405020304" pitchFamily="18" charset="0"/>
                <a:cs typeface="Times New Roman" panose="02020603050405020304" pitchFamily="18" charset="0"/>
              </a:rPr>
              <a:t> that can be extended for other textile supply chains or integrated with technologies like </a:t>
            </a:r>
            <a:r>
              <a:rPr lang="en-US" altLang="en-US" sz="1600" b="1" dirty="0">
                <a:solidFill>
                  <a:schemeClr val="tx1"/>
                </a:solidFill>
                <a:latin typeface="Times New Roman" panose="02020603050405020304" pitchFamily="18" charset="0"/>
                <a:cs typeface="Times New Roman" panose="02020603050405020304" pitchFamily="18" charset="0"/>
              </a:rPr>
              <a:t>IoT and Blockchain</a:t>
            </a:r>
            <a:r>
              <a:rPr lang="en-US" altLang="en-US" sz="1600" dirty="0">
                <a:solidFill>
                  <a:schemeClr val="tx1"/>
                </a:solidFill>
                <a:latin typeface="Times New Roman" panose="02020603050405020304" pitchFamily="18" charset="0"/>
                <a:cs typeface="Times New Roman" panose="02020603050405020304" pitchFamily="18" charset="0"/>
              </a:rPr>
              <a:t> in the future.</a:t>
            </a:r>
          </a:p>
          <a:p>
            <a:pPr marL="0" marR="0" lvl="0" indent="0" algn="l" defTabSz="914400" rtl="0" eaLnBrk="0" fontAlgn="base" latinLnBrk="0" hangingPunct="0">
              <a:lnSpc>
                <a:spcPct val="2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5048-5751-F346-29AD-0F2DC155F0B7}"/>
              </a:ext>
            </a:extLst>
          </p:cNvPr>
          <p:cNvSpPr>
            <a:spLocks noGrp="1"/>
          </p:cNvSpPr>
          <p:nvPr>
            <p:ph type="title"/>
          </p:nvPr>
        </p:nvSpPr>
        <p:spPr>
          <a:xfrm>
            <a:off x="762000" y="230082"/>
            <a:ext cx="10668000" cy="639192"/>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Literature Survey Overview</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7CAC15A-FEA0-C8AA-A489-83B30BD16185}"/>
              </a:ext>
            </a:extLst>
          </p:cNvPr>
          <p:cNvSpPr>
            <a:spLocks noGrp="1"/>
          </p:cNvSpPr>
          <p:nvPr>
            <p:ph type="body" idx="1"/>
          </p:nvPr>
        </p:nvSpPr>
        <p:spPr>
          <a:xfrm>
            <a:off x="762000" y="1035726"/>
            <a:ext cx="10668000" cy="4953000"/>
          </a:xfrm>
        </p:spPr>
        <p:txBody>
          <a:bodyPr>
            <a:normAutofit/>
          </a:bodyPr>
          <a:lstStyle/>
          <a:p>
            <a:r>
              <a:rPr lang="en-US" sz="1600" dirty="0">
                <a:latin typeface="Times New Roman" panose="02020603050405020304" pitchFamily="18" charset="0"/>
                <a:ea typeface="Cambria" panose="02040503050406030204" pitchFamily="18" charset="0"/>
                <a:cs typeface="Times New Roman" panose="02020603050405020304" pitchFamily="18" charset="0"/>
              </a:rPr>
              <a:t>A comprehensive review of 15 key research papers from IEEE, Scopus, and Web of Science was conducted. The review focused on IoT, blockchain, mobile applications, and supply chain digitization relevant to wool and textile industries. This helped identify technological trends, gaps, and informed the design of an integrated wool monitoring application suited for the Indian context.</a:t>
            </a:r>
            <a:endParaRPr lang="en-IN" sz="16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B9D9383-5415-9558-B1DE-FD4FECA9685B}"/>
              </a:ext>
            </a:extLst>
          </p:cNvPr>
          <p:cNvGraphicFramePr>
            <a:graphicFrameLocks noGrp="1"/>
          </p:cNvGraphicFramePr>
          <p:nvPr>
            <p:extLst>
              <p:ext uri="{D42A27DB-BD31-4B8C-83A1-F6EECF244321}">
                <p14:modId xmlns:p14="http://schemas.microsoft.com/office/powerpoint/2010/main" val="662242346"/>
              </p:ext>
            </p:extLst>
          </p:nvPr>
        </p:nvGraphicFramePr>
        <p:xfrm>
          <a:off x="1717963" y="2628901"/>
          <a:ext cx="7706590" cy="3526277"/>
        </p:xfrm>
        <a:graphic>
          <a:graphicData uri="http://schemas.openxmlformats.org/drawingml/2006/table">
            <a:tbl>
              <a:tblPr/>
              <a:tblGrid>
                <a:gridCol w="1541318">
                  <a:extLst>
                    <a:ext uri="{9D8B030D-6E8A-4147-A177-3AD203B41FA5}">
                      <a16:colId xmlns:a16="http://schemas.microsoft.com/office/drawing/2014/main" val="1013321226"/>
                    </a:ext>
                  </a:extLst>
                </a:gridCol>
                <a:gridCol w="1541318">
                  <a:extLst>
                    <a:ext uri="{9D8B030D-6E8A-4147-A177-3AD203B41FA5}">
                      <a16:colId xmlns:a16="http://schemas.microsoft.com/office/drawing/2014/main" val="4252809967"/>
                    </a:ext>
                  </a:extLst>
                </a:gridCol>
                <a:gridCol w="1541318">
                  <a:extLst>
                    <a:ext uri="{9D8B030D-6E8A-4147-A177-3AD203B41FA5}">
                      <a16:colId xmlns:a16="http://schemas.microsoft.com/office/drawing/2014/main" val="1046505306"/>
                    </a:ext>
                  </a:extLst>
                </a:gridCol>
                <a:gridCol w="1541318">
                  <a:extLst>
                    <a:ext uri="{9D8B030D-6E8A-4147-A177-3AD203B41FA5}">
                      <a16:colId xmlns:a16="http://schemas.microsoft.com/office/drawing/2014/main" val="1183543656"/>
                    </a:ext>
                  </a:extLst>
                </a:gridCol>
                <a:gridCol w="1541318">
                  <a:extLst>
                    <a:ext uri="{9D8B030D-6E8A-4147-A177-3AD203B41FA5}">
                      <a16:colId xmlns:a16="http://schemas.microsoft.com/office/drawing/2014/main" val="3190045387"/>
                    </a:ext>
                  </a:extLst>
                </a:gridCol>
              </a:tblGrid>
              <a:tr h="747092">
                <a:tc>
                  <a:txBody>
                    <a:bodyPr/>
                    <a:lstStyle/>
                    <a:p>
                      <a:pPr algn="ctr" fontAlgn="t" latinLnBrk="0">
                        <a:buNone/>
                      </a:pPr>
                      <a:r>
                        <a:rPr lang="en-IN" b="0" dirty="0">
                          <a:effectLst/>
                        </a:rPr>
                        <a:t>Paper</a:t>
                      </a:r>
                    </a:p>
                  </a:txBody>
                  <a:tcPr marL="60960" marR="60960" marT="60960" marB="60960">
                    <a:lnL w="7620" cap="flat" cmpd="sng" algn="ctr">
                      <a:solidFill>
                        <a:srgbClr val="A0AB2A"/>
                      </a:solidFill>
                      <a:prstDash val="solid"/>
                      <a:round/>
                      <a:headEnd type="none" w="med" len="med"/>
                      <a:tailEnd type="none" w="med" len="med"/>
                    </a:lnL>
                    <a:lnR w="7620" cap="flat" cmpd="sng" algn="ctr">
                      <a:solidFill>
                        <a:srgbClr val="00B02A"/>
                      </a:solidFill>
                      <a:prstDash val="solid"/>
                      <a:round/>
                      <a:headEnd type="none" w="med" len="med"/>
                      <a:tailEnd type="none" w="med" len="med"/>
                    </a:lnR>
                    <a:lnT w="7620" cap="flat" cmpd="sng" algn="ctr">
                      <a:solidFill>
                        <a:srgbClr val="A0AB2A"/>
                      </a:solidFill>
                      <a:prstDash val="solid"/>
                      <a:round/>
                      <a:headEnd type="none" w="med" len="med"/>
                      <a:tailEnd type="none" w="med" len="med"/>
                    </a:lnT>
                    <a:lnB w="7620" cap="flat" cmpd="sng" algn="ctr">
                      <a:solidFill>
                        <a:srgbClr val="00B02A"/>
                      </a:solidFill>
                      <a:prstDash val="solid"/>
                      <a:round/>
                      <a:headEnd type="none" w="med" len="med"/>
                      <a:tailEnd type="none" w="med" len="med"/>
                    </a:lnB>
                    <a:noFill/>
                  </a:tcPr>
                </a:tc>
                <a:tc>
                  <a:txBody>
                    <a:bodyPr/>
                    <a:lstStyle/>
                    <a:p>
                      <a:pPr algn="ctr" fontAlgn="t" latinLnBrk="0">
                        <a:buNone/>
                      </a:pPr>
                      <a:r>
                        <a:rPr lang="en-IN" b="0" dirty="0">
                          <a:effectLst/>
                        </a:rPr>
                        <a:t>Research Domain</a:t>
                      </a:r>
                    </a:p>
                  </a:txBody>
                  <a:tcPr marL="60960" marR="60960" marT="60960" marB="60960">
                    <a:lnL w="7620" cap="flat" cmpd="sng" algn="ctr">
                      <a:solidFill>
                        <a:srgbClr val="00B02A"/>
                      </a:solidFill>
                      <a:prstDash val="solid"/>
                      <a:round/>
                      <a:headEnd type="none" w="med" len="med"/>
                      <a:tailEnd type="none" w="med" len="med"/>
                    </a:lnL>
                    <a:lnR w="7620" cap="flat" cmpd="sng" algn="ctr">
                      <a:solidFill>
                        <a:srgbClr val="30A82A"/>
                      </a:solidFill>
                      <a:prstDash val="solid"/>
                      <a:round/>
                      <a:headEnd type="none" w="med" len="med"/>
                      <a:tailEnd type="none" w="med" len="med"/>
                    </a:lnR>
                    <a:lnT w="7620" cap="flat" cmpd="sng" algn="ctr">
                      <a:solidFill>
                        <a:srgbClr val="00B02A"/>
                      </a:solidFill>
                      <a:prstDash val="solid"/>
                      <a:round/>
                      <a:headEnd type="none" w="med" len="med"/>
                      <a:tailEnd type="none" w="med" len="med"/>
                    </a:lnT>
                    <a:lnB w="7620" cap="flat" cmpd="sng" algn="ctr">
                      <a:solidFill>
                        <a:srgbClr val="20B32A"/>
                      </a:solidFill>
                      <a:prstDash val="solid"/>
                      <a:round/>
                      <a:headEnd type="none" w="med" len="med"/>
                      <a:tailEnd type="none" w="med" len="med"/>
                    </a:lnB>
                    <a:noFill/>
                  </a:tcPr>
                </a:tc>
                <a:tc>
                  <a:txBody>
                    <a:bodyPr/>
                    <a:lstStyle/>
                    <a:p>
                      <a:pPr algn="ctr" fontAlgn="t" latinLnBrk="0">
                        <a:buNone/>
                      </a:pPr>
                      <a:r>
                        <a:rPr lang="en-IN" b="0" dirty="0">
                          <a:effectLst/>
                        </a:rPr>
                        <a:t>Approach</a:t>
                      </a:r>
                    </a:p>
                  </a:txBody>
                  <a:tcPr marL="60960" marR="60960" marT="60960" marB="60960">
                    <a:lnL w="7620" cap="flat" cmpd="sng" algn="ctr">
                      <a:solidFill>
                        <a:srgbClr val="30A82A"/>
                      </a:solidFill>
                      <a:prstDash val="solid"/>
                      <a:round/>
                      <a:headEnd type="none" w="med" len="med"/>
                      <a:tailEnd type="none" w="med" len="med"/>
                    </a:lnL>
                    <a:lnR w="7620" cap="flat" cmpd="sng" algn="ctr">
                      <a:solidFill>
                        <a:srgbClr val="70B82A"/>
                      </a:solidFill>
                      <a:prstDash val="solid"/>
                      <a:round/>
                      <a:headEnd type="none" w="med" len="med"/>
                      <a:tailEnd type="none" w="med" len="med"/>
                    </a:lnR>
                    <a:lnT w="7620" cap="flat" cmpd="sng" algn="ctr">
                      <a:solidFill>
                        <a:srgbClr val="30A82A"/>
                      </a:solidFill>
                      <a:prstDash val="solid"/>
                      <a:round/>
                      <a:headEnd type="none" w="med" len="med"/>
                      <a:tailEnd type="none" w="med" len="med"/>
                    </a:lnT>
                    <a:lnB w="7620" cap="flat" cmpd="sng" algn="ctr">
                      <a:solidFill>
                        <a:srgbClr val="70B82A"/>
                      </a:solidFill>
                      <a:prstDash val="solid"/>
                      <a:round/>
                      <a:headEnd type="none" w="med" len="med"/>
                      <a:tailEnd type="none" w="med" len="med"/>
                    </a:lnB>
                    <a:noFill/>
                  </a:tcPr>
                </a:tc>
                <a:tc>
                  <a:txBody>
                    <a:bodyPr/>
                    <a:lstStyle/>
                    <a:p>
                      <a:pPr algn="ctr" fontAlgn="t" latinLnBrk="0">
                        <a:buNone/>
                      </a:pPr>
                      <a:r>
                        <a:rPr lang="en-IN" b="0">
                          <a:effectLst/>
                        </a:rPr>
                        <a:t>Research Gap</a:t>
                      </a:r>
                    </a:p>
                  </a:txBody>
                  <a:tcPr marL="60960" marR="60960" marT="60960" marB="60960">
                    <a:lnL w="7620" cap="flat" cmpd="sng" algn="ctr">
                      <a:solidFill>
                        <a:srgbClr val="70B82A"/>
                      </a:solidFill>
                      <a:prstDash val="solid"/>
                      <a:round/>
                      <a:headEnd type="none" w="med" len="med"/>
                      <a:tailEnd type="none" w="med" len="med"/>
                    </a:lnL>
                    <a:lnR w="7620" cap="flat" cmpd="sng" algn="ctr">
                      <a:solidFill>
                        <a:srgbClr val="70B82A"/>
                      </a:solidFill>
                      <a:prstDash val="solid"/>
                      <a:round/>
                      <a:headEnd type="none" w="med" len="med"/>
                      <a:tailEnd type="none" w="med" len="med"/>
                    </a:lnR>
                    <a:lnT w="7620" cap="flat" cmpd="sng" algn="ctr">
                      <a:solidFill>
                        <a:srgbClr val="70B82A"/>
                      </a:solidFill>
                      <a:prstDash val="solid"/>
                      <a:round/>
                      <a:headEnd type="none" w="med" len="med"/>
                      <a:tailEnd type="none" w="med" len="med"/>
                    </a:lnT>
                    <a:lnB w="7620" cap="flat" cmpd="sng" algn="ctr">
                      <a:solidFill>
                        <a:srgbClr val="40A72A"/>
                      </a:solidFill>
                      <a:prstDash val="solid"/>
                      <a:round/>
                      <a:headEnd type="none" w="med" len="med"/>
                      <a:tailEnd type="none" w="med" len="med"/>
                    </a:lnB>
                    <a:noFill/>
                  </a:tcPr>
                </a:tc>
                <a:tc>
                  <a:txBody>
                    <a:bodyPr/>
                    <a:lstStyle/>
                    <a:p>
                      <a:pPr algn="ctr" fontAlgn="t" latinLnBrk="0">
                        <a:buNone/>
                      </a:pPr>
                      <a:r>
                        <a:rPr lang="en-IN" b="0" dirty="0">
                          <a:effectLst/>
                        </a:rPr>
                        <a:t>Wool Relevance</a:t>
                      </a:r>
                    </a:p>
                  </a:txBody>
                  <a:tcPr marL="60960" marR="60960" marT="60960" marB="60960">
                    <a:lnL w="7620" cap="flat" cmpd="sng" algn="ctr">
                      <a:solidFill>
                        <a:srgbClr val="70B82A"/>
                      </a:solidFill>
                      <a:prstDash val="solid"/>
                      <a:round/>
                      <a:headEnd type="none" w="med" len="med"/>
                      <a:tailEnd type="none" w="med" len="med"/>
                    </a:lnL>
                    <a:lnR w="7620" cap="flat" cmpd="sng" algn="ctr">
                      <a:solidFill>
                        <a:srgbClr val="70B82A"/>
                      </a:solidFill>
                      <a:prstDash val="solid"/>
                      <a:round/>
                      <a:headEnd type="none" w="med" len="med"/>
                      <a:tailEnd type="none" w="med" len="med"/>
                    </a:lnR>
                    <a:lnT w="7620" cap="flat" cmpd="sng" algn="ctr">
                      <a:solidFill>
                        <a:srgbClr val="70B82A"/>
                      </a:solidFill>
                      <a:prstDash val="solid"/>
                      <a:round/>
                      <a:headEnd type="none" w="med" len="med"/>
                      <a:tailEnd type="none" w="med" len="med"/>
                    </a:lnT>
                    <a:lnB w="7620" cap="flat" cmpd="sng" algn="ctr">
                      <a:solidFill>
                        <a:srgbClr val="30AD2A"/>
                      </a:solidFill>
                      <a:prstDash val="solid"/>
                      <a:round/>
                      <a:headEnd type="none" w="med" len="med"/>
                      <a:tailEnd type="none" w="med" len="med"/>
                    </a:lnB>
                    <a:noFill/>
                  </a:tcPr>
                </a:tc>
                <a:extLst>
                  <a:ext uri="{0D108BD9-81ED-4DB2-BD59-A6C34878D82A}">
                    <a16:rowId xmlns:a16="http://schemas.microsoft.com/office/drawing/2014/main" val="3198700429"/>
                  </a:ext>
                </a:extLst>
              </a:tr>
              <a:tr h="926395">
                <a:tc>
                  <a:txBody>
                    <a:bodyPr/>
                    <a:lstStyle/>
                    <a:p>
                      <a:pPr algn="ctr" fontAlgn="base" latinLnBrk="0">
                        <a:buNone/>
                      </a:pPr>
                      <a:r>
                        <a:rPr lang="en-IN" dirty="0">
                          <a:effectLst/>
                        </a:rPr>
                        <a:t>P01</a:t>
                      </a:r>
                    </a:p>
                  </a:txBody>
                  <a:tcPr marL="60960" marR="60960" anchor="ctr">
                    <a:lnL w="7620" cap="flat" cmpd="sng" algn="ctr">
                      <a:solidFill>
                        <a:srgbClr val="00B02A"/>
                      </a:solidFill>
                      <a:prstDash val="solid"/>
                      <a:round/>
                      <a:headEnd type="none" w="med" len="med"/>
                      <a:tailEnd type="none" w="med" len="med"/>
                    </a:lnL>
                    <a:lnR w="7620" cap="flat" cmpd="sng" algn="ctr">
                      <a:solidFill>
                        <a:srgbClr val="20B32A"/>
                      </a:solidFill>
                      <a:prstDash val="solid"/>
                      <a:round/>
                      <a:headEnd type="none" w="med" len="med"/>
                      <a:tailEnd type="none" w="med" len="med"/>
                    </a:lnR>
                    <a:lnT w="7620" cap="flat" cmpd="sng" algn="ctr">
                      <a:solidFill>
                        <a:srgbClr val="00B02A"/>
                      </a:solidFill>
                      <a:prstDash val="solid"/>
                      <a:round/>
                      <a:headEnd type="none" w="med" len="med"/>
                      <a:tailEnd type="none" w="med" len="med"/>
                    </a:lnT>
                    <a:lnB w="7620" cap="flat" cmpd="sng" algn="ctr">
                      <a:solidFill>
                        <a:srgbClr val="40A72A"/>
                      </a:solidFill>
                      <a:prstDash val="solid"/>
                      <a:round/>
                      <a:headEnd type="none" w="med" len="med"/>
                      <a:tailEnd type="none" w="med" len="med"/>
                    </a:lnB>
                    <a:noFill/>
                  </a:tcPr>
                </a:tc>
                <a:tc>
                  <a:txBody>
                    <a:bodyPr/>
                    <a:lstStyle/>
                    <a:p>
                      <a:pPr algn="ctr" fontAlgn="base" latinLnBrk="0">
                        <a:buNone/>
                      </a:pPr>
                      <a:r>
                        <a:rPr lang="en-IN" dirty="0">
                          <a:effectLst/>
                        </a:rPr>
                        <a:t>IoT in Wool Monitoring</a:t>
                      </a:r>
                    </a:p>
                  </a:txBody>
                  <a:tcPr marL="60960" marR="60960" anchor="ctr">
                    <a:lnL w="7620" cap="flat" cmpd="sng" algn="ctr">
                      <a:solidFill>
                        <a:srgbClr val="20B32A"/>
                      </a:solidFill>
                      <a:prstDash val="solid"/>
                      <a:round/>
                      <a:headEnd type="none" w="med" len="med"/>
                      <a:tailEnd type="none" w="med" len="med"/>
                    </a:lnL>
                    <a:lnR w="7620" cap="flat" cmpd="sng" algn="ctr">
                      <a:solidFill>
                        <a:srgbClr val="70B82A"/>
                      </a:solidFill>
                      <a:prstDash val="solid"/>
                      <a:round/>
                      <a:headEnd type="none" w="med" len="med"/>
                      <a:tailEnd type="none" w="med" len="med"/>
                    </a:lnR>
                    <a:lnT w="7620" cap="flat" cmpd="sng" algn="ctr">
                      <a:solidFill>
                        <a:srgbClr val="20B32A"/>
                      </a:solidFill>
                      <a:prstDash val="solid"/>
                      <a:round/>
                      <a:headEnd type="none" w="med" len="med"/>
                      <a:tailEnd type="none" w="med" len="med"/>
                    </a:lnT>
                    <a:lnB w="7620" cap="flat" cmpd="sng" algn="ctr">
                      <a:solidFill>
                        <a:srgbClr val="C0A92A"/>
                      </a:solidFill>
                      <a:prstDash val="solid"/>
                      <a:round/>
                      <a:headEnd type="none" w="med" len="med"/>
                      <a:tailEnd type="none" w="med" len="med"/>
                    </a:lnB>
                    <a:noFill/>
                  </a:tcPr>
                </a:tc>
                <a:tc>
                  <a:txBody>
                    <a:bodyPr/>
                    <a:lstStyle/>
                    <a:p>
                      <a:pPr algn="ctr" fontAlgn="base" latinLnBrk="0">
                        <a:buNone/>
                      </a:pPr>
                      <a:r>
                        <a:rPr lang="en-IN" dirty="0">
                          <a:effectLst/>
                        </a:rPr>
                        <a:t>IoT sensors, blockchain, ML</a:t>
                      </a:r>
                    </a:p>
                  </a:txBody>
                  <a:tcPr marL="60960" marR="60960" anchor="ctr">
                    <a:lnL w="7620" cap="flat" cmpd="sng" algn="ctr">
                      <a:solidFill>
                        <a:srgbClr val="70B82A"/>
                      </a:solidFill>
                      <a:prstDash val="solid"/>
                      <a:round/>
                      <a:headEnd type="none" w="med" len="med"/>
                      <a:tailEnd type="none" w="med" len="med"/>
                    </a:lnL>
                    <a:lnR w="7620" cap="flat" cmpd="sng" algn="ctr">
                      <a:solidFill>
                        <a:srgbClr val="40A72A"/>
                      </a:solidFill>
                      <a:prstDash val="solid"/>
                      <a:round/>
                      <a:headEnd type="none" w="med" len="med"/>
                      <a:tailEnd type="none" w="med" len="med"/>
                    </a:lnR>
                    <a:lnT w="7620" cap="flat" cmpd="sng" algn="ctr">
                      <a:solidFill>
                        <a:srgbClr val="70B82A"/>
                      </a:solidFill>
                      <a:prstDash val="solid"/>
                      <a:round/>
                      <a:headEnd type="none" w="med" len="med"/>
                      <a:tailEnd type="none" w="med" len="med"/>
                    </a:lnT>
                    <a:lnB w="7620" cap="flat" cmpd="sng" algn="ctr">
                      <a:solidFill>
                        <a:srgbClr val="30AD2A"/>
                      </a:solidFill>
                      <a:prstDash val="solid"/>
                      <a:round/>
                      <a:headEnd type="none" w="med" len="med"/>
                      <a:tailEnd type="none" w="med" len="med"/>
                    </a:lnB>
                    <a:noFill/>
                  </a:tcPr>
                </a:tc>
                <a:tc>
                  <a:txBody>
                    <a:bodyPr/>
                    <a:lstStyle/>
                    <a:p>
                      <a:pPr algn="ctr" fontAlgn="base" latinLnBrk="0">
                        <a:buNone/>
                      </a:pPr>
                      <a:r>
                        <a:rPr lang="en-IN" dirty="0">
                          <a:effectLst/>
                        </a:rPr>
                        <a:t>Lack of real implementation</a:t>
                      </a:r>
                    </a:p>
                  </a:txBody>
                  <a:tcPr marL="60960" marR="60960" anchor="ctr">
                    <a:lnL w="7620" cap="flat" cmpd="sng" algn="ctr">
                      <a:solidFill>
                        <a:srgbClr val="40A72A"/>
                      </a:solidFill>
                      <a:prstDash val="solid"/>
                      <a:round/>
                      <a:headEnd type="none" w="med" len="med"/>
                      <a:tailEnd type="none" w="med" len="med"/>
                    </a:lnL>
                    <a:lnR w="7620" cap="flat" cmpd="sng" algn="ctr">
                      <a:solidFill>
                        <a:srgbClr val="30AD2A"/>
                      </a:solidFill>
                      <a:prstDash val="solid"/>
                      <a:round/>
                      <a:headEnd type="none" w="med" len="med"/>
                      <a:tailEnd type="none" w="med" len="med"/>
                    </a:lnR>
                    <a:lnT w="7620" cap="flat" cmpd="sng" algn="ctr">
                      <a:solidFill>
                        <a:srgbClr val="40A72A"/>
                      </a:solidFill>
                      <a:prstDash val="solid"/>
                      <a:round/>
                      <a:headEnd type="none" w="med" len="med"/>
                      <a:tailEnd type="none" w="med" len="med"/>
                    </a:lnT>
                    <a:lnB w="7620" cap="flat" cmpd="sng" algn="ctr">
                      <a:solidFill>
                        <a:srgbClr val="E0A72A"/>
                      </a:solidFill>
                      <a:prstDash val="solid"/>
                      <a:round/>
                      <a:headEnd type="none" w="med" len="med"/>
                      <a:tailEnd type="none" w="med" len="med"/>
                    </a:lnB>
                    <a:noFill/>
                  </a:tcPr>
                </a:tc>
                <a:tc>
                  <a:txBody>
                    <a:bodyPr/>
                    <a:lstStyle/>
                    <a:p>
                      <a:pPr algn="ctr" fontAlgn="base" latinLnBrk="0">
                        <a:buNone/>
                      </a:pPr>
                      <a:r>
                        <a:rPr lang="en-IN">
                          <a:effectLst/>
                        </a:rPr>
                        <a:t>High</a:t>
                      </a:r>
                    </a:p>
                  </a:txBody>
                  <a:tcPr marL="60960" marR="60960" anchor="ctr">
                    <a:lnL w="7620" cap="flat" cmpd="sng" algn="ctr">
                      <a:solidFill>
                        <a:srgbClr val="30AD2A"/>
                      </a:solidFill>
                      <a:prstDash val="solid"/>
                      <a:round/>
                      <a:headEnd type="none" w="med" len="med"/>
                      <a:tailEnd type="none" w="med" len="med"/>
                    </a:lnL>
                    <a:lnR w="7620" cap="flat" cmpd="sng" algn="ctr">
                      <a:solidFill>
                        <a:srgbClr val="30AD2A"/>
                      </a:solidFill>
                      <a:prstDash val="solid"/>
                      <a:round/>
                      <a:headEnd type="none" w="med" len="med"/>
                      <a:tailEnd type="none" w="med" len="med"/>
                    </a:lnR>
                    <a:lnT w="7620" cap="flat" cmpd="sng" algn="ctr">
                      <a:solidFill>
                        <a:srgbClr val="30AD2A"/>
                      </a:solidFill>
                      <a:prstDash val="solid"/>
                      <a:round/>
                      <a:headEnd type="none" w="med" len="med"/>
                      <a:tailEnd type="none" w="med" len="med"/>
                    </a:lnT>
                    <a:lnB w="7620" cap="flat" cmpd="sng" algn="ctr">
                      <a:solidFill>
                        <a:srgbClr val="E0AC2A"/>
                      </a:solidFill>
                      <a:prstDash val="solid"/>
                      <a:round/>
                      <a:headEnd type="none" w="med" len="med"/>
                      <a:tailEnd type="none" w="med" len="med"/>
                    </a:lnB>
                    <a:noFill/>
                  </a:tcPr>
                </a:tc>
                <a:extLst>
                  <a:ext uri="{0D108BD9-81ED-4DB2-BD59-A6C34878D82A}">
                    <a16:rowId xmlns:a16="http://schemas.microsoft.com/office/drawing/2014/main" val="2326678268"/>
                  </a:ext>
                </a:extLst>
              </a:tr>
              <a:tr h="1135581">
                <a:tc>
                  <a:txBody>
                    <a:bodyPr/>
                    <a:lstStyle/>
                    <a:p>
                      <a:pPr algn="ctr" fontAlgn="base" latinLnBrk="0">
                        <a:buNone/>
                      </a:pPr>
                      <a:r>
                        <a:rPr lang="en-IN">
                          <a:effectLst/>
                        </a:rPr>
                        <a:t>P02</a:t>
                      </a:r>
                    </a:p>
                  </a:txBody>
                  <a:tcPr marL="60960" marR="60960" anchor="ctr">
                    <a:lnL w="7620" cap="flat" cmpd="sng" algn="ctr">
                      <a:solidFill>
                        <a:srgbClr val="40A72A"/>
                      </a:solidFill>
                      <a:prstDash val="solid"/>
                      <a:round/>
                      <a:headEnd type="none" w="med" len="med"/>
                      <a:tailEnd type="none" w="med" len="med"/>
                    </a:lnL>
                    <a:lnR w="7620" cap="flat" cmpd="sng" algn="ctr">
                      <a:solidFill>
                        <a:srgbClr val="C0A92A"/>
                      </a:solidFill>
                      <a:prstDash val="solid"/>
                      <a:round/>
                      <a:headEnd type="none" w="med" len="med"/>
                      <a:tailEnd type="none" w="med" len="med"/>
                    </a:lnR>
                    <a:lnT w="7620" cap="flat" cmpd="sng" algn="ctr">
                      <a:solidFill>
                        <a:srgbClr val="40A72A"/>
                      </a:solidFill>
                      <a:prstDash val="solid"/>
                      <a:round/>
                      <a:headEnd type="none" w="med" len="med"/>
                      <a:tailEnd type="none" w="med" len="med"/>
                    </a:lnT>
                    <a:lnB w="7620" cap="flat" cmpd="sng" algn="ctr">
                      <a:solidFill>
                        <a:srgbClr val="A0B02A"/>
                      </a:solidFill>
                      <a:prstDash val="solid"/>
                      <a:round/>
                      <a:headEnd type="none" w="med" len="med"/>
                      <a:tailEnd type="none" w="med" len="med"/>
                    </a:lnB>
                    <a:noFill/>
                  </a:tcPr>
                </a:tc>
                <a:tc>
                  <a:txBody>
                    <a:bodyPr/>
                    <a:lstStyle/>
                    <a:p>
                      <a:pPr algn="ctr" fontAlgn="base" latinLnBrk="0">
                        <a:buNone/>
                      </a:pPr>
                      <a:r>
                        <a:rPr lang="en-IN">
                          <a:effectLst/>
                        </a:rPr>
                        <a:t>Web-based Wool SCM</a:t>
                      </a:r>
                    </a:p>
                  </a:txBody>
                  <a:tcPr marL="60960" marR="60960" anchor="ctr">
                    <a:lnL w="7620" cap="flat" cmpd="sng" algn="ctr">
                      <a:solidFill>
                        <a:srgbClr val="C0A92A"/>
                      </a:solidFill>
                      <a:prstDash val="solid"/>
                      <a:round/>
                      <a:headEnd type="none" w="med" len="med"/>
                      <a:tailEnd type="none" w="med" len="med"/>
                    </a:lnL>
                    <a:lnR w="7620" cap="flat" cmpd="sng" algn="ctr">
                      <a:solidFill>
                        <a:srgbClr val="30AD2A"/>
                      </a:solidFill>
                      <a:prstDash val="solid"/>
                      <a:round/>
                      <a:headEnd type="none" w="med" len="med"/>
                      <a:tailEnd type="none" w="med" len="med"/>
                    </a:lnR>
                    <a:lnT w="7620" cap="flat" cmpd="sng" algn="ctr">
                      <a:solidFill>
                        <a:srgbClr val="C0A92A"/>
                      </a:solidFill>
                      <a:prstDash val="solid"/>
                      <a:round/>
                      <a:headEnd type="none" w="med" len="med"/>
                      <a:tailEnd type="none" w="med" len="med"/>
                    </a:lnT>
                    <a:lnB w="7620" cap="flat" cmpd="sng" algn="ctr">
                      <a:solidFill>
                        <a:srgbClr val="10B92A"/>
                      </a:solidFill>
                      <a:prstDash val="solid"/>
                      <a:round/>
                      <a:headEnd type="none" w="med" len="med"/>
                      <a:tailEnd type="none" w="med" len="med"/>
                    </a:lnB>
                    <a:noFill/>
                  </a:tcPr>
                </a:tc>
                <a:tc>
                  <a:txBody>
                    <a:bodyPr/>
                    <a:lstStyle/>
                    <a:p>
                      <a:pPr algn="ctr" fontAlgn="base" latinLnBrk="0">
                        <a:buNone/>
                      </a:pPr>
                      <a:r>
                        <a:rPr lang="en-US">
                          <a:effectLst/>
                        </a:rPr>
                        <a:t>React, Flask, MySQL web app</a:t>
                      </a:r>
                    </a:p>
                  </a:txBody>
                  <a:tcPr marL="60960" marR="60960" anchor="ctr">
                    <a:lnL w="7620" cap="flat" cmpd="sng" algn="ctr">
                      <a:solidFill>
                        <a:srgbClr val="30AD2A"/>
                      </a:solidFill>
                      <a:prstDash val="solid"/>
                      <a:round/>
                      <a:headEnd type="none" w="med" len="med"/>
                      <a:tailEnd type="none" w="med" len="med"/>
                    </a:lnL>
                    <a:lnR w="7620" cap="flat" cmpd="sng" algn="ctr">
                      <a:solidFill>
                        <a:srgbClr val="E0A72A"/>
                      </a:solidFill>
                      <a:prstDash val="solid"/>
                      <a:round/>
                      <a:headEnd type="none" w="med" len="med"/>
                      <a:tailEnd type="none" w="med" len="med"/>
                    </a:lnR>
                    <a:lnT w="7620" cap="flat" cmpd="sng" algn="ctr">
                      <a:solidFill>
                        <a:srgbClr val="30AD2A"/>
                      </a:solidFill>
                      <a:prstDash val="solid"/>
                      <a:round/>
                      <a:headEnd type="none" w="med" len="med"/>
                      <a:tailEnd type="none" w="med" len="med"/>
                    </a:lnT>
                    <a:lnB w="7620" cap="flat" cmpd="sng" algn="ctr">
                      <a:solidFill>
                        <a:srgbClr val="F0B02A"/>
                      </a:solidFill>
                      <a:prstDash val="solid"/>
                      <a:round/>
                      <a:headEnd type="none" w="med" len="med"/>
                      <a:tailEnd type="none" w="med" len="med"/>
                    </a:lnB>
                    <a:noFill/>
                  </a:tcPr>
                </a:tc>
                <a:tc>
                  <a:txBody>
                    <a:bodyPr/>
                    <a:lstStyle/>
                    <a:p>
                      <a:pPr algn="ctr" fontAlgn="base" latinLnBrk="0">
                        <a:buNone/>
                      </a:pPr>
                      <a:r>
                        <a:rPr lang="en-US">
                          <a:effectLst/>
                        </a:rPr>
                        <a:t>No mobile app, limited analytics</a:t>
                      </a:r>
                    </a:p>
                  </a:txBody>
                  <a:tcPr marL="60960" marR="60960" anchor="ctr">
                    <a:lnL w="7620" cap="flat" cmpd="sng" algn="ctr">
                      <a:solidFill>
                        <a:srgbClr val="E0A72A"/>
                      </a:solidFill>
                      <a:prstDash val="solid"/>
                      <a:round/>
                      <a:headEnd type="none" w="med" len="med"/>
                      <a:tailEnd type="none" w="med" len="med"/>
                    </a:lnL>
                    <a:lnR w="7620" cap="flat" cmpd="sng" algn="ctr">
                      <a:solidFill>
                        <a:srgbClr val="E0AC2A"/>
                      </a:solidFill>
                      <a:prstDash val="solid"/>
                      <a:round/>
                      <a:headEnd type="none" w="med" len="med"/>
                      <a:tailEnd type="none" w="med" len="med"/>
                    </a:lnR>
                    <a:lnT w="7620" cap="flat" cmpd="sng" algn="ctr">
                      <a:solidFill>
                        <a:srgbClr val="E0A72A"/>
                      </a:solidFill>
                      <a:prstDash val="solid"/>
                      <a:round/>
                      <a:headEnd type="none" w="med" len="med"/>
                      <a:tailEnd type="none" w="med" len="med"/>
                    </a:lnT>
                    <a:lnB w="7620" cap="flat" cmpd="sng" algn="ctr">
                      <a:solidFill>
                        <a:srgbClr val="10B92A"/>
                      </a:solidFill>
                      <a:prstDash val="solid"/>
                      <a:round/>
                      <a:headEnd type="none" w="med" len="med"/>
                      <a:tailEnd type="none" w="med" len="med"/>
                    </a:lnB>
                    <a:noFill/>
                  </a:tcPr>
                </a:tc>
                <a:tc>
                  <a:txBody>
                    <a:bodyPr/>
                    <a:lstStyle/>
                    <a:p>
                      <a:pPr algn="ctr" fontAlgn="base" latinLnBrk="0">
                        <a:buNone/>
                      </a:pPr>
                      <a:r>
                        <a:rPr lang="en-IN">
                          <a:effectLst/>
                        </a:rPr>
                        <a:t>High</a:t>
                      </a:r>
                    </a:p>
                  </a:txBody>
                  <a:tcPr marL="60960" marR="60960" anchor="ctr">
                    <a:lnL w="7620" cap="flat" cmpd="sng" algn="ctr">
                      <a:solidFill>
                        <a:srgbClr val="E0AC2A"/>
                      </a:solidFill>
                      <a:prstDash val="solid"/>
                      <a:round/>
                      <a:headEnd type="none" w="med" len="med"/>
                      <a:tailEnd type="none" w="med" len="med"/>
                    </a:lnL>
                    <a:lnR w="7620" cap="flat" cmpd="sng" algn="ctr">
                      <a:solidFill>
                        <a:srgbClr val="E0AC2A"/>
                      </a:solidFill>
                      <a:prstDash val="solid"/>
                      <a:round/>
                      <a:headEnd type="none" w="med" len="med"/>
                      <a:tailEnd type="none" w="med" len="med"/>
                    </a:lnR>
                    <a:lnT w="7620" cap="flat" cmpd="sng" algn="ctr">
                      <a:solidFill>
                        <a:srgbClr val="E0AC2A"/>
                      </a:solidFill>
                      <a:prstDash val="solid"/>
                      <a:round/>
                      <a:headEnd type="none" w="med" len="med"/>
                      <a:tailEnd type="none" w="med" len="med"/>
                    </a:lnT>
                    <a:lnB w="7620" cap="flat" cmpd="sng" algn="ctr">
                      <a:solidFill>
                        <a:srgbClr val="80AD2A"/>
                      </a:solidFill>
                      <a:prstDash val="solid"/>
                      <a:round/>
                      <a:headEnd type="none" w="med" len="med"/>
                      <a:tailEnd type="none" w="med" len="med"/>
                    </a:lnB>
                    <a:noFill/>
                  </a:tcPr>
                </a:tc>
                <a:extLst>
                  <a:ext uri="{0D108BD9-81ED-4DB2-BD59-A6C34878D82A}">
                    <a16:rowId xmlns:a16="http://schemas.microsoft.com/office/drawing/2014/main" val="168020160"/>
                  </a:ext>
                </a:extLst>
              </a:tr>
              <a:tr h="717209">
                <a:tc>
                  <a:txBody>
                    <a:bodyPr/>
                    <a:lstStyle/>
                    <a:p>
                      <a:pPr algn="ctr" fontAlgn="base" latinLnBrk="0">
                        <a:buNone/>
                      </a:pPr>
                      <a:r>
                        <a:rPr lang="en-IN">
                          <a:effectLst/>
                        </a:rPr>
                        <a:t>P03</a:t>
                      </a:r>
                    </a:p>
                  </a:txBody>
                  <a:tcPr marL="60960" marR="60960" anchor="ctr">
                    <a:lnL w="7620" cap="flat" cmpd="sng" algn="ctr">
                      <a:solidFill>
                        <a:srgbClr val="A0B02A"/>
                      </a:solidFill>
                      <a:prstDash val="solid"/>
                      <a:round/>
                      <a:headEnd type="none" w="med" len="med"/>
                      <a:tailEnd type="none" w="med" len="med"/>
                    </a:lnL>
                    <a:lnR w="7620" cap="flat" cmpd="sng" algn="ctr">
                      <a:solidFill>
                        <a:srgbClr val="10B92A"/>
                      </a:solidFill>
                      <a:prstDash val="solid"/>
                      <a:round/>
                      <a:headEnd type="none" w="med" len="med"/>
                      <a:tailEnd type="none" w="med" len="med"/>
                    </a:lnR>
                    <a:lnT w="7620" cap="flat" cmpd="sng" algn="ctr">
                      <a:solidFill>
                        <a:srgbClr val="A0B02A"/>
                      </a:solidFill>
                      <a:prstDash val="solid"/>
                      <a:round/>
                      <a:headEnd type="none" w="med" len="med"/>
                      <a:tailEnd type="none" w="med" len="med"/>
                    </a:lnT>
                    <a:lnB w="7620" cap="flat" cmpd="sng" algn="ctr">
                      <a:solidFill>
                        <a:srgbClr val="A0B02A"/>
                      </a:solidFill>
                      <a:prstDash val="solid"/>
                      <a:round/>
                      <a:headEnd type="none" w="med" len="med"/>
                      <a:tailEnd type="none" w="med" len="med"/>
                    </a:lnB>
                    <a:noFill/>
                  </a:tcPr>
                </a:tc>
                <a:tc>
                  <a:txBody>
                    <a:bodyPr/>
                    <a:lstStyle/>
                    <a:p>
                      <a:pPr algn="ctr" fontAlgn="base" latinLnBrk="0">
                        <a:buNone/>
                      </a:pPr>
                      <a:r>
                        <a:rPr lang="en-IN">
                          <a:effectLst/>
                        </a:rPr>
                        <a:t>Blockchain &amp; IoT SCM</a:t>
                      </a:r>
                    </a:p>
                  </a:txBody>
                  <a:tcPr marL="60960" marR="60960" anchor="ctr">
                    <a:lnL w="7620" cap="flat" cmpd="sng" algn="ctr">
                      <a:solidFill>
                        <a:srgbClr val="10B92A"/>
                      </a:solidFill>
                      <a:prstDash val="solid"/>
                      <a:round/>
                      <a:headEnd type="none" w="med" len="med"/>
                      <a:tailEnd type="none" w="med" len="med"/>
                    </a:lnL>
                    <a:lnR w="7620" cap="flat" cmpd="sng" algn="ctr">
                      <a:solidFill>
                        <a:srgbClr val="F0B02A"/>
                      </a:solidFill>
                      <a:prstDash val="solid"/>
                      <a:round/>
                      <a:headEnd type="none" w="med" len="med"/>
                      <a:tailEnd type="none" w="med" len="med"/>
                    </a:lnR>
                    <a:lnT w="7620" cap="flat" cmpd="sng" algn="ctr">
                      <a:solidFill>
                        <a:srgbClr val="10B92A"/>
                      </a:solidFill>
                      <a:prstDash val="solid"/>
                      <a:round/>
                      <a:headEnd type="none" w="med" len="med"/>
                      <a:tailEnd type="none" w="med" len="med"/>
                    </a:lnT>
                    <a:lnB w="7620" cap="flat" cmpd="sng" algn="ctr">
                      <a:solidFill>
                        <a:srgbClr val="10B92A"/>
                      </a:solidFill>
                      <a:prstDash val="solid"/>
                      <a:round/>
                      <a:headEnd type="none" w="med" len="med"/>
                      <a:tailEnd type="none" w="med" len="med"/>
                    </a:lnB>
                    <a:noFill/>
                  </a:tcPr>
                </a:tc>
                <a:tc>
                  <a:txBody>
                    <a:bodyPr/>
                    <a:lstStyle/>
                    <a:p>
                      <a:pPr algn="ctr" fontAlgn="base" latinLnBrk="0">
                        <a:buNone/>
                      </a:pPr>
                      <a:r>
                        <a:rPr lang="en-IN">
                          <a:effectLst/>
                        </a:rPr>
                        <a:t>Literature review</a:t>
                      </a:r>
                    </a:p>
                  </a:txBody>
                  <a:tcPr marL="60960" marR="60960" anchor="ctr">
                    <a:lnL w="7620" cap="flat" cmpd="sng" algn="ctr">
                      <a:solidFill>
                        <a:srgbClr val="F0B02A"/>
                      </a:solidFill>
                      <a:prstDash val="solid"/>
                      <a:round/>
                      <a:headEnd type="none" w="med" len="med"/>
                      <a:tailEnd type="none" w="med" len="med"/>
                    </a:lnL>
                    <a:lnR w="7620" cap="flat" cmpd="sng" algn="ctr">
                      <a:solidFill>
                        <a:srgbClr val="10B92A"/>
                      </a:solidFill>
                      <a:prstDash val="solid"/>
                      <a:round/>
                      <a:headEnd type="none" w="med" len="med"/>
                      <a:tailEnd type="none" w="med" len="med"/>
                    </a:lnR>
                    <a:lnT w="7620" cap="flat" cmpd="sng" algn="ctr">
                      <a:solidFill>
                        <a:srgbClr val="F0B02A"/>
                      </a:solidFill>
                      <a:prstDash val="solid"/>
                      <a:round/>
                      <a:headEnd type="none" w="med" len="med"/>
                      <a:tailEnd type="none" w="med" len="med"/>
                    </a:lnT>
                    <a:lnB w="7620" cap="flat" cmpd="sng" algn="ctr">
                      <a:solidFill>
                        <a:srgbClr val="F0B02A"/>
                      </a:solidFill>
                      <a:prstDash val="solid"/>
                      <a:round/>
                      <a:headEnd type="none" w="med" len="med"/>
                      <a:tailEnd type="none" w="med" len="med"/>
                    </a:lnB>
                    <a:noFill/>
                  </a:tcPr>
                </a:tc>
                <a:tc>
                  <a:txBody>
                    <a:bodyPr/>
                    <a:lstStyle/>
                    <a:p>
                      <a:pPr algn="ctr" fontAlgn="base" latinLnBrk="0">
                        <a:buNone/>
                      </a:pPr>
                      <a:r>
                        <a:rPr lang="en-IN">
                          <a:effectLst/>
                        </a:rPr>
                        <a:t>No wool-specific apps</a:t>
                      </a:r>
                    </a:p>
                  </a:txBody>
                  <a:tcPr marL="60960" marR="60960" anchor="ctr">
                    <a:lnL w="7620" cap="flat" cmpd="sng" algn="ctr">
                      <a:solidFill>
                        <a:srgbClr val="10B92A"/>
                      </a:solidFill>
                      <a:prstDash val="solid"/>
                      <a:round/>
                      <a:headEnd type="none" w="med" len="med"/>
                      <a:tailEnd type="none" w="med" len="med"/>
                    </a:lnL>
                    <a:lnR w="7620" cap="flat" cmpd="sng" algn="ctr">
                      <a:solidFill>
                        <a:srgbClr val="80AD2A"/>
                      </a:solidFill>
                      <a:prstDash val="solid"/>
                      <a:round/>
                      <a:headEnd type="none" w="med" len="med"/>
                      <a:tailEnd type="none" w="med" len="med"/>
                    </a:lnR>
                    <a:lnT w="7620" cap="flat" cmpd="sng" algn="ctr">
                      <a:solidFill>
                        <a:srgbClr val="10B92A"/>
                      </a:solidFill>
                      <a:prstDash val="solid"/>
                      <a:round/>
                      <a:headEnd type="none" w="med" len="med"/>
                      <a:tailEnd type="none" w="med" len="med"/>
                    </a:lnT>
                    <a:lnB w="7620" cap="flat" cmpd="sng" algn="ctr">
                      <a:solidFill>
                        <a:srgbClr val="10B92A"/>
                      </a:solidFill>
                      <a:prstDash val="solid"/>
                      <a:round/>
                      <a:headEnd type="none" w="med" len="med"/>
                      <a:tailEnd type="none" w="med" len="med"/>
                    </a:lnB>
                    <a:noFill/>
                  </a:tcPr>
                </a:tc>
                <a:tc>
                  <a:txBody>
                    <a:bodyPr/>
                    <a:lstStyle/>
                    <a:p>
                      <a:pPr algn="ctr" fontAlgn="base" latinLnBrk="0">
                        <a:buNone/>
                      </a:pPr>
                      <a:r>
                        <a:rPr lang="en-IN" dirty="0">
                          <a:effectLst/>
                        </a:rPr>
                        <a:t>Medium</a:t>
                      </a:r>
                    </a:p>
                  </a:txBody>
                  <a:tcPr marL="60960" marR="60960" anchor="ctr">
                    <a:lnL w="7620" cap="flat" cmpd="sng" algn="ctr">
                      <a:solidFill>
                        <a:srgbClr val="80AD2A"/>
                      </a:solidFill>
                      <a:prstDash val="solid"/>
                      <a:round/>
                      <a:headEnd type="none" w="med" len="med"/>
                      <a:tailEnd type="none" w="med" len="med"/>
                    </a:lnL>
                    <a:lnR w="7620" cap="flat" cmpd="sng" algn="ctr">
                      <a:solidFill>
                        <a:srgbClr val="80AD2A"/>
                      </a:solidFill>
                      <a:prstDash val="solid"/>
                      <a:round/>
                      <a:headEnd type="none" w="med" len="med"/>
                      <a:tailEnd type="none" w="med" len="med"/>
                    </a:lnR>
                    <a:lnT w="7620" cap="flat" cmpd="sng" algn="ctr">
                      <a:solidFill>
                        <a:srgbClr val="80AD2A"/>
                      </a:solidFill>
                      <a:prstDash val="solid"/>
                      <a:round/>
                      <a:headEnd type="none" w="med" len="med"/>
                      <a:tailEnd type="none" w="med" len="med"/>
                    </a:lnT>
                    <a:lnB w="7620" cap="flat" cmpd="sng" algn="ctr">
                      <a:solidFill>
                        <a:srgbClr val="80AD2A"/>
                      </a:solidFill>
                      <a:prstDash val="solid"/>
                      <a:round/>
                      <a:headEnd type="none" w="med" len="med"/>
                      <a:tailEnd type="none" w="med" len="med"/>
                    </a:lnB>
                    <a:noFill/>
                  </a:tcPr>
                </a:tc>
                <a:extLst>
                  <a:ext uri="{0D108BD9-81ED-4DB2-BD59-A6C34878D82A}">
                    <a16:rowId xmlns:a16="http://schemas.microsoft.com/office/drawing/2014/main" val="72351097"/>
                  </a:ext>
                </a:extLst>
              </a:tr>
            </a:tbl>
          </a:graphicData>
        </a:graphic>
      </p:graphicFrame>
      <p:sp>
        <p:nvSpPr>
          <p:cNvPr id="6" name="Rectangle 1">
            <a:extLst>
              <a:ext uri="{FF2B5EF4-FFF2-40B4-BE49-F238E27FC236}">
                <a16:creationId xmlns:a16="http://schemas.microsoft.com/office/drawing/2014/main" id="{614AAD62-B617-518D-9FB4-49632C7C81C2}"/>
              </a:ext>
            </a:extLst>
          </p:cNvPr>
          <p:cNvSpPr>
            <a:spLocks noChangeArrowheads="1"/>
          </p:cNvSpPr>
          <p:nvPr/>
        </p:nvSpPr>
        <p:spPr bwMode="auto">
          <a:xfrm>
            <a:off x="1570887" y="2274958"/>
            <a:ext cx="554688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Literature Review Summary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726491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DD14E-1F3E-A701-E704-4FE8F9B429ED}"/>
              </a:ext>
            </a:extLst>
          </p:cNvPr>
          <p:cNvSpPr>
            <a:spLocks noGrp="1"/>
          </p:cNvSpPr>
          <p:nvPr>
            <p:ph type="title"/>
          </p:nvPr>
        </p:nvSpPr>
        <p:spPr>
          <a:xfrm>
            <a:off x="762000" y="274499"/>
            <a:ext cx="10668000" cy="487500"/>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Key Findings &amp; Research Gaps</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0BC9532-9F9E-08D6-B2D3-8CEA2CDE1FBA}"/>
              </a:ext>
            </a:extLst>
          </p:cNvPr>
          <p:cNvSpPr>
            <a:spLocks noGrp="1"/>
          </p:cNvSpPr>
          <p:nvPr>
            <p:ph type="body" idx="1"/>
          </p:nvPr>
        </p:nvSpPr>
        <p:spPr/>
        <p:txBody>
          <a:bodyPr>
            <a:normAutofit/>
          </a:bodyPr>
          <a:lstStyle/>
          <a:p>
            <a:pPr>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Traditional wool supply chains still depend on manual tracking and poor data flow, leading to inefficiencies and lack of transparency.</a:t>
            </a:r>
          </a:p>
          <a:p>
            <a:pPr>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The Farm to Fabric system improves traceability, accountability, and secure communication across all stages of production.</a:t>
            </a:r>
          </a:p>
          <a:p>
            <a:pPr>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Its modular, role-based structure ensures data integrity and supports sustainable practices (UN SDG 9 &amp; SDG 12).</a:t>
            </a:r>
          </a:p>
          <a:p>
            <a:pPr>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Research gaps exist in the integration of Blockchain, and AI for real-time monitoring and predictive analytics.</a:t>
            </a:r>
          </a:p>
          <a:p>
            <a:pPr>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Future work should focus on automation, interoperability, and smart sensor integration for achieving a fully transparent and sustainable supply chain.</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0198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7"/>
            <a:ext cx="11327906" cy="624625"/>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Existing Methods and Drawbacks</a:t>
            </a:r>
          </a:p>
        </p:txBody>
      </p:sp>
      <p:sp>
        <p:nvSpPr>
          <p:cNvPr id="3" name="Rectangle 2">
            <a:extLst>
              <a:ext uri="{FF2B5EF4-FFF2-40B4-BE49-F238E27FC236}">
                <a16:creationId xmlns:a16="http://schemas.microsoft.com/office/drawing/2014/main" id="{8442E1F0-E0C8-190D-349C-9773EEBF0257}"/>
              </a:ext>
            </a:extLst>
          </p:cNvPr>
          <p:cNvSpPr>
            <a:spLocks noChangeArrowheads="1"/>
          </p:cNvSpPr>
          <p:nvPr/>
        </p:nvSpPr>
        <p:spPr bwMode="auto">
          <a:xfrm rot="10800000" flipV="1">
            <a:off x="532659" y="1209013"/>
            <a:ext cx="11327907" cy="419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Fragmented traditional wool operations: manual tracking, disparate services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Existing digital solutions focus on other textiles or agriculture, not specifically wool</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Lack of real-time monitoring and quality assurance integrated with marketplaces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Limited farmer engagement and education tools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High costs and complexity hinder adoption of blockchain and IoT in wool</a:t>
            </a:r>
            <a:endParaRPr kumimoji="0" lang="en-US" altLang="en-US" sz="240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sz="1800" b="1" dirty="0">
                <a:solidFill>
                  <a:schemeClr val="accent2">
                    <a:lumMod val="75000"/>
                  </a:schemeClr>
                </a:solidFill>
                <a:latin typeface="Cambria" panose="02040503050406030204" pitchFamily="18" charset="0"/>
                <a:ea typeface="Cambria" panose="02040503050406030204" pitchFamily="18" charset="0"/>
                <a:hlinkClick r:id="rId3"/>
              </a:rPr>
              <a:t>https://github.com/Manjunatha-9611/CSE_142__PSCS_21-Application-Development-for-monitoring-of-wool-from-Farm-to-fabric</a:t>
            </a:r>
            <a:br>
              <a:rPr lang="en-US" sz="1800" b="1" dirty="0">
                <a:solidFill>
                  <a:schemeClr val="accent2">
                    <a:lumMod val="75000"/>
                  </a:schemeClr>
                </a:solidFill>
                <a:latin typeface="Cambria" panose="02040503050406030204" pitchFamily="18" charset="0"/>
                <a:ea typeface="Cambria" panose="02040503050406030204" pitchFamily="18" charset="0"/>
              </a:rPr>
            </a:b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69C5A17B-4ABB-AE5B-3B96-563A956E0B02}"/>
              </a:ext>
            </a:extLst>
          </p:cNvPr>
          <p:cNvPicPr>
            <a:picLocks noChangeAspect="1"/>
          </p:cNvPicPr>
          <p:nvPr/>
        </p:nvPicPr>
        <p:blipFill>
          <a:blip r:embed="rId4"/>
          <a:stretch>
            <a:fillRect/>
          </a:stretch>
        </p:blipFill>
        <p:spPr>
          <a:xfrm>
            <a:off x="8614299" y="1536700"/>
            <a:ext cx="2530471" cy="2502815"/>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CCB8-20B9-F7DD-C269-5DA2D28ECE1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Proposed Method &amp; Feasibility Study</a:t>
            </a:r>
          </a:p>
        </p:txBody>
      </p:sp>
      <p:sp>
        <p:nvSpPr>
          <p:cNvPr id="3" name="Text Placeholder 2">
            <a:extLst>
              <a:ext uri="{FF2B5EF4-FFF2-40B4-BE49-F238E27FC236}">
                <a16:creationId xmlns:a16="http://schemas.microsoft.com/office/drawing/2014/main" id="{E0C7D387-B37F-64B3-F109-ED5E537B1A81}"/>
              </a:ext>
            </a:extLst>
          </p:cNvPr>
          <p:cNvSpPr>
            <a:spLocks noGrp="1"/>
          </p:cNvSpPr>
          <p:nvPr>
            <p:ph type="body" idx="1"/>
          </p:nvPr>
        </p:nvSpPr>
        <p:spPr>
          <a:xfrm>
            <a:off x="689113" y="967409"/>
            <a:ext cx="10791687" cy="5128592"/>
          </a:xfrm>
        </p:spPr>
        <p:txBody>
          <a:bodyPr>
            <a:normAutofit fontScale="92500" lnSpcReduction="20000"/>
          </a:bodyPr>
          <a:lstStyle/>
          <a:p>
            <a:pPr marL="76200" indent="0">
              <a:buNone/>
            </a:pPr>
            <a:r>
              <a:rPr lang="en-IN" dirty="0">
                <a:latin typeface="Times New Roman" panose="02020603050405020304" pitchFamily="18" charset="0"/>
                <a:ea typeface="Cambria" panose="02040503050406030204" pitchFamily="18" charset="0"/>
                <a:cs typeface="Times New Roman" panose="02020603050405020304" pitchFamily="18" charset="0"/>
              </a:rPr>
              <a:t>Our solution proposes a unified web-based platform integrating:</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ea typeface="Cambria" panose="02040503050406030204" pitchFamily="18" charset="0"/>
                <a:cs typeface="Times New Roman" panose="02020603050405020304" pitchFamily="18" charset="0"/>
              </a:rPr>
              <a:t>Real-time wool production tracking (farm to market)</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ea typeface="Cambria" panose="02040503050406030204" pitchFamily="18" charset="0"/>
                <a:cs typeface="Times New Roman" panose="02020603050405020304" pitchFamily="18" charset="0"/>
              </a:rPr>
              <a:t>Market analytics dashboard for price and demand trends</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ea typeface="Cambria" panose="02040503050406030204" pitchFamily="18" charset="0"/>
                <a:cs typeface="Times New Roman" panose="02020603050405020304" pitchFamily="18" charset="0"/>
              </a:rPr>
              <a:t>Quality assurance and grading module using standardized metrics</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IN" sz="1800" i="1" dirty="0">
                <a:latin typeface="Times New Roman" panose="02020603050405020304" pitchFamily="18" charset="0"/>
                <a:ea typeface="Cambria" panose="02040503050406030204" pitchFamily="18" charset="0"/>
                <a:cs typeface="Times New Roman" panose="02020603050405020304" pitchFamily="18" charset="0"/>
              </a:rPr>
              <a:t>Additional</a:t>
            </a:r>
          </a:p>
          <a:p>
            <a:r>
              <a:rPr lang="en-IN" sz="1800" dirty="0">
                <a:latin typeface="Times New Roman" panose="02020603050405020304" pitchFamily="18" charset="0"/>
                <a:ea typeface="Cambria" panose="02040503050406030204" pitchFamily="18" charset="0"/>
                <a:cs typeface="Times New Roman" panose="02020603050405020304" pitchFamily="18" charset="0"/>
              </a:rPr>
              <a:t>Digital inventory and warehousing management</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ea typeface="Cambria" panose="02040503050406030204" pitchFamily="18" charset="0"/>
                <a:cs typeface="Times New Roman" panose="02020603050405020304" pitchFamily="18" charset="0"/>
              </a:rPr>
              <a:t>Integrated wool trading marketplace</a:t>
            </a:r>
          </a:p>
          <a:p>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ea typeface="Cambria" panose="02040503050406030204" pitchFamily="18" charset="0"/>
                <a:cs typeface="Times New Roman" panose="02020603050405020304" pitchFamily="18" charset="0"/>
              </a:rPr>
              <a:t>Educational and training content for skill enhancement</a:t>
            </a:r>
          </a:p>
          <a:p>
            <a:pPr marL="76200" indent="0">
              <a:buNone/>
            </a:pP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IN" sz="1800" b="1" i="1" dirty="0">
                <a:latin typeface="Times New Roman" panose="02020603050405020304" pitchFamily="18" charset="0"/>
                <a:ea typeface="Cambria" panose="02040503050406030204" pitchFamily="18" charset="0"/>
                <a:cs typeface="Times New Roman" panose="02020603050405020304" pitchFamily="18" charset="0"/>
              </a:rPr>
              <a:t>Feasibility</a:t>
            </a:r>
            <a:r>
              <a:rPr lang="en-IN" sz="1800" dirty="0">
                <a:latin typeface="Times New Roman" panose="02020603050405020304" pitchFamily="18" charset="0"/>
                <a:ea typeface="Cambria" panose="02040503050406030204" pitchFamily="18" charset="0"/>
                <a:cs typeface="Times New Roman" panose="02020603050405020304" pitchFamily="18" charset="0"/>
              </a:rPr>
              <a:t>: Uses open-source technologies (Node.js, MongoDB, Express.js), supported by cloud hosting (Render/</a:t>
            </a:r>
            <a:r>
              <a:rPr lang="en-IN" sz="1800" dirty="0" err="1">
                <a:latin typeface="Times New Roman" panose="02020603050405020304" pitchFamily="18" charset="0"/>
                <a:ea typeface="Cambria" panose="02040503050406030204" pitchFamily="18" charset="0"/>
                <a:cs typeface="Times New Roman" panose="02020603050405020304" pitchFamily="18" charset="0"/>
              </a:rPr>
              <a:t>Vercel</a:t>
            </a:r>
            <a:r>
              <a:rPr lang="en-IN" sz="1800" dirty="0">
                <a:latin typeface="Times New Roman" panose="02020603050405020304" pitchFamily="18" charset="0"/>
                <a:ea typeface="Cambria" panose="02040503050406030204" pitchFamily="18" charset="0"/>
                <a:cs typeface="Times New Roman" panose="02020603050405020304" pitchFamily="18" charset="0"/>
              </a:rPr>
              <a:t>), scalable architecture, and optional IoT sensor integration for enhanced monitoring.</a:t>
            </a:r>
          </a:p>
        </p:txBody>
      </p:sp>
    </p:spTree>
    <p:extLst>
      <p:ext uri="{BB962C8B-B14F-4D97-AF65-F5344CB8AC3E}">
        <p14:creationId xmlns:p14="http://schemas.microsoft.com/office/powerpoint/2010/main" val="3736312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p>
        </p:txBody>
      </p:sp>
      <p:sp>
        <p:nvSpPr>
          <p:cNvPr id="115" name="Google Shape;115;p17"/>
          <p:cNvSpPr txBox="1">
            <a:spLocks noGrp="1"/>
          </p:cNvSpPr>
          <p:nvPr>
            <p:ph type="body" idx="1"/>
          </p:nvPr>
        </p:nvSpPr>
        <p:spPr>
          <a:xfrm>
            <a:off x="812800" y="1235599"/>
            <a:ext cx="3458258" cy="3521596"/>
          </a:xfrm>
          <a:prstGeom prst="rect">
            <a:avLst/>
          </a:prstGeom>
          <a:noFill/>
          <a:ln>
            <a:noFill/>
          </a:ln>
        </p:spPr>
        <p:txBody>
          <a:bodyPr spcFirstLastPara="1" wrap="square" lIns="91425" tIns="45700" rIns="91425" bIns="45700" anchor="t" anchorCtr="0">
            <a:normAutofit fontScale="70000" lnSpcReduction="20000"/>
          </a:bodyPr>
          <a:lstStyle/>
          <a:p>
            <a:r>
              <a:rPr lang="en-US" sz="1800" b="1" dirty="0">
                <a:latin typeface="Times New Roman" panose="02020603050405020304" pitchFamily="18" charset="0"/>
                <a:ea typeface="Cambria" panose="02040503050406030204" pitchFamily="18" charset="0"/>
                <a:cs typeface="Times New Roman" panose="02020603050405020304" pitchFamily="18" charset="0"/>
              </a:rPr>
              <a:t>User modules (Farmers, Buyers, Inspectors)</a:t>
            </a:r>
          </a:p>
          <a:p>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ea typeface="Cambria" panose="02040503050406030204" pitchFamily="18" charset="0"/>
                <a:cs typeface="Times New Roman" panose="02020603050405020304" pitchFamily="18" charset="0"/>
              </a:rPr>
              <a:t>Web application frontend &amp; backend</a:t>
            </a:r>
          </a:p>
          <a:p>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ea typeface="Cambria" panose="02040503050406030204" pitchFamily="18" charset="0"/>
                <a:cs typeface="Times New Roman" panose="02020603050405020304" pitchFamily="18" charset="0"/>
              </a:rPr>
              <a:t>Database for wool data and transactions</a:t>
            </a:r>
          </a:p>
          <a:p>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ea typeface="Cambria" panose="02040503050406030204" pitchFamily="18" charset="0"/>
                <a:cs typeface="Times New Roman" panose="02020603050405020304" pitchFamily="18" charset="0"/>
              </a:rPr>
              <a:t>Optional IoT sensor integration for real-time monitoring</a:t>
            </a:r>
          </a:p>
          <a:p>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ea typeface="Cambria" panose="02040503050406030204" pitchFamily="18" charset="0"/>
                <a:cs typeface="Times New Roman" panose="02020603050405020304" pitchFamily="18" charset="0"/>
              </a:rPr>
              <a:t>Blockchain layer for traceability and data security</a:t>
            </a:r>
          </a:p>
          <a:p>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ea typeface="Cambria" panose="02040503050406030204" pitchFamily="18" charset="0"/>
                <a:cs typeface="Times New Roman" panose="02020603050405020304" pitchFamily="18" charset="0"/>
              </a:rPr>
              <a:t>APIs connecting different system components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612EB76-430D-F39F-8DBA-E9EEC88E10E1}"/>
              </a:ext>
            </a:extLst>
          </p:cNvPr>
          <p:cNvPicPr>
            <a:picLocks noChangeAspect="1"/>
          </p:cNvPicPr>
          <p:nvPr/>
        </p:nvPicPr>
        <p:blipFill>
          <a:blip r:embed="rId3"/>
          <a:stretch>
            <a:fillRect/>
          </a:stretch>
        </p:blipFill>
        <p:spPr>
          <a:xfrm>
            <a:off x="5131687" y="1038170"/>
            <a:ext cx="6064207" cy="5622401"/>
          </a:xfrm>
          <a:prstGeom prst="rect">
            <a:avLst/>
          </a:prstGeom>
        </p:spPr>
      </p:pic>
      <p:sp>
        <p:nvSpPr>
          <p:cNvPr id="5" name="Rectangle 4">
            <a:extLst>
              <a:ext uri="{FF2B5EF4-FFF2-40B4-BE49-F238E27FC236}">
                <a16:creationId xmlns:a16="http://schemas.microsoft.com/office/drawing/2014/main" id="{F1896EDC-CCD9-6B61-D66A-3BB0BB80080A}"/>
              </a:ext>
            </a:extLst>
          </p:cNvPr>
          <p:cNvSpPr/>
          <p:nvPr/>
        </p:nvSpPr>
        <p:spPr>
          <a:xfrm>
            <a:off x="10713027" y="5964382"/>
            <a:ext cx="457200" cy="727363"/>
          </a:xfrm>
          <a:prstGeom prst="rect">
            <a:avLst/>
          </a:prstGeom>
          <a:solidFill>
            <a:srgbClr val="FAFAFA"/>
          </a:solidFill>
          <a:ln>
            <a:solidFill>
              <a:srgbClr val="FAFA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Modules</a:t>
            </a:r>
          </a:p>
        </p:txBody>
      </p:sp>
      <p:sp>
        <p:nvSpPr>
          <p:cNvPr id="115" name="Google Shape;115;p17"/>
          <p:cNvSpPr txBox="1">
            <a:spLocks noGrp="1"/>
          </p:cNvSpPr>
          <p:nvPr>
            <p:ph type="body" idx="1"/>
          </p:nvPr>
        </p:nvSpPr>
        <p:spPr>
          <a:xfrm>
            <a:off x="812799" y="1006996"/>
            <a:ext cx="11251953" cy="5576365"/>
          </a:xfrm>
          <a:prstGeom prst="rect">
            <a:avLst/>
          </a:prstGeom>
          <a:noFill/>
          <a:ln>
            <a:noFill/>
          </a:ln>
        </p:spPr>
        <p:txBody>
          <a:bodyPr spcFirstLastPara="1" wrap="square" lIns="91425" tIns="45700" rIns="91425" bIns="45700" anchor="t" anchorCtr="0">
            <a:normAutofit/>
          </a:bodyPr>
          <a:lstStyle/>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Market Information Module: Real-time price updates, trends, news</a:t>
            </a:r>
          </a:p>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Wool Tracking Module: End-to-end tracking and transport monitoring</a:t>
            </a:r>
          </a:p>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Quality Assurance Module: Grading, certification, and inspection workflows</a:t>
            </a:r>
          </a:p>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Trading Marketplace: Direct buy/sell interface for producers and buyers</a:t>
            </a:r>
          </a:p>
          <a:p>
            <a:pPr marL="76200" indent="0">
              <a:lnSpc>
                <a:spcPct val="150000"/>
              </a:lnSpc>
              <a:buNone/>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nSpc>
                <a:spcPct val="150000"/>
              </a:lnSpc>
              <a:buNone/>
            </a:pPr>
            <a:r>
              <a:rPr lang="en-US" sz="2000" i="1" dirty="0">
                <a:latin typeface="Times New Roman" panose="02020603050405020304" pitchFamily="18" charset="0"/>
                <a:ea typeface="Cambria" panose="02040503050406030204" pitchFamily="18" charset="0"/>
                <a:cs typeface="Times New Roman" panose="02020603050405020304" pitchFamily="18" charset="0"/>
              </a:rPr>
              <a:t>Additional</a:t>
            </a:r>
          </a:p>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Storage &amp; Inventory Module: Manage wool stock digitally</a:t>
            </a:r>
          </a:p>
          <a:p>
            <a:pPr>
              <a:lnSpc>
                <a:spcPct val="150000"/>
              </a:lnSpc>
            </a:pPr>
            <a:r>
              <a:rPr lang="en-US" sz="2000" dirty="0">
                <a:latin typeface="Times New Roman" panose="02020603050405020304" pitchFamily="18" charset="0"/>
                <a:ea typeface="Cambria" panose="02040503050406030204" pitchFamily="18" charset="0"/>
                <a:cs typeface="Times New Roman" panose="02020603050405020304" pitchFamily="18" charset="0"/>
              </a:rPr>
              <a:t>Education &amp; Training Module: Tutorials, best practices, regional content</a:t>
            </a:r>
          </a:p>
        </p:txBody>
      </p:sp>
    </p:spTree>
    <p:extLst>
      <p:ext uri="{BB962C8B-B14F-4D97-AF65-F5344CB8AC3E}">
        <p14:creationId xmlns:p14="http://schemas.microsoft.com/office/powerpoint/2010/main" val="3338832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0DF1-AC2E-4A2A-861B-74DD9DA3AA3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Feasibility &amp; Justification</a:t>
            </a:r>
          </a:p>
        </p:txBody>
      </p:sp>
      <p:sp>
        <p:nvSpPr>
          <p:cNvPr id="3" name="Text Placeholder 2">
            <a:extLst>
              <a:ext uri="{FF2B5EF4-FFF2-40B4-BE49-F238E27FC236}">
                <a16:creationId xmlns:a16="http://schemas.microsoft.com/office/drawing/2014/main" id="{431C3B23-A0F2-FD40-7FF2-6AB5BA1948B2}"/>
              </a:ext>
            </a:extLst>
          </p:cNvPr>
          <p:cNvSpPr>
            <a:spLocks noGrp="1"/>
          </p:cNvSpPr>
          <p:nvPr>
            <p:ph type="body" idx="1"/>
          </p:nvPr>
        </p:nvSpPr>
        <p:spPr/>
        <p:txBody>
          <a:bodyPr>
            <a:normAutofit/>
          </a:bodyPr>
          <a:lstStyle/>
          <a:p>
            <a:r>
              <a:rPr lang="en-US" sz="2000" dirty="0">
                <a:latin typeface="Times New Roman" panose="02020603050405020304" pitchFamily="18" charset="0"/>
                <a:ea typeface="Cambria" panose="02040503050406030204" pitchFamily="18" charset="0"/>
                <a:cs typeface="Times New Roman" panose="02020603050405020304" pitchFamily="18" charset="0"/>
              </a:rPr>
              <a:t>Open-source stack reduces cost and ensures community support</a:t>
            </a:r>
          </a:p>
          <a:p>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r>
              <a:rPr lang="en-US" sz="2000" dirty="0">
                <a:latin typeface="Times New Roman" panose="02020603050405020304" pitchFamily="18" charset="0"/>
                <a:ea typeface="Cambria" panose="02040503050406030204" pitchFamily="18" charset="0"/>
                <a:cs typeface="Times New Roman" panose="02020603050405020304" pitchFamily="18" charset="0"/>
              </a:rPr>
              <a:t>Cloud deployment ensures scalability and availability</a:t>
            </a:r>
          </a:p>
          <a:p>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r>
              <a:rPr lang="en-US" sz="2000" dirty="0">
                <a:latin typeface="Times New Roman" panose="02020603050405020304" pitchFamily="18" charset="0"/>
                <a:ea typeface="Cambria" panose="02040503050406030204" pitchFamily="18" charset="0"/>
                <a:cs typeface="Times New Roman" panose="02020603050405020304" pitchFamily="18" charset="0"/>
              </a:rPr>
              <a:t>Modular architecture allows incremental development and future IoT integration</a:t>
            </a:r>
          </a:p>
          <a:p>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r>
              <a:rPr lang="en-US" sz="2000" dirty="0">
                <a:latin typeface="Times New Roman" panose="02020603050405020304" pitchFamily="18" charset="0"/>
                <a:ea typeface="Cambria" panose="02040503050406030204" pitchFamily="18" charset="0"/>
                <a:cs typeface="Times New Roman" panose="02020603050405020304" pitchFamily="18" charset="0"/>
              </a:rPr>
              <a:t>Indian wool sector requirements are addressed: local languages, farmer accessibility, scalable marketplace</a:t>
            </a:r>
          </a:p>
          <a:p>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r>
              <a:rPr lang="en-US" sz="2000" dirty="0">
                <a:latin typeface="Times New Roman" panose="02020603050405020304" pitchFamily="18" charset="0"/>
                <a:ea typeface="Cambria" panose="02040503050406030204" pitchFamily="18" charset="0"/>
                <a:cs typeface="Times New Roman" panose="02020603050405020304" pitchFamily="18" charset="0"/>
              </a:rPr>
              <a:t>Extensive literature shows potential but existing gap in end-to-end unified tool</a:t>
            </a: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463404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335CFDD-9B33-CFEF-ED8A-C86F7A077091}"/>
              </a:ext>
            </a:extLst>
          </p:cNvPr>
          <p:cNvPicPr>
            <a:picLocks noChangeAspect="1"/>
          </p:cNvPicPr>
          <p:nvPr/>
        </p:nvPicPr>
        <p:blipFill>
          <a:blip r:embed="rId3"/>
          <a:stretch>
            <a:fillRect/>
          </a:stretch>
        </p:blipFill>
        <p:spPr>
          <a:xfrm>
            <a:off x="1974574" y="1140032"/>
            <a:ext cx="8681830" cy="503548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D7B8-2791-8B30-9230-87488C02C5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Challenges &amp; Expected Impact</a:t>
            </a:r>
          </a:p>
        </p:txBody>
      </p:sp>
      <p:sp>
        <p:nvSpPr>
          <p:cNvPr id="3" name="Text Placeholder 2">
            <a:extLst>
              <a:ext uri="{FF2B5EF4-FFF2-40B4-BE49-F238E27FC236}">
                <a16:creationId xmlns:a16="http://schemas.microsoft.com/office/drawing/2014/main" id="{0115F503-4993-4929-B0CB-502903D57A63}"/>
              </a:ext>
            </a:extLst>
          </p:cNvPr>
          <p:cNvSpPr>
            <a:spLocks noGrp="1"/>
          </p:cNvSpPr>
          <p:nvPr>
            <p:ph type="body" idx="1"/>
          </p:nvPr>
        </p:nvSpPr>
        <p:spPr/>
        <p:txBody>
          <a:bodyPr/>
          <a:lstStyle/>
          <a:p>
            <a:r>
              <a:rPr lang="en-US" b="1" i="1" dirty="0">
                <a:latin typeface="Times New Roman" panose="02020603050405020304" pitchFamily="18" charset="0"/>
                <a:cs typeface="Times New Roman" panose="02020603050405020304" pitchFamily="18" charset="0"/>
              </a:rPr>
              <a:t>Challenges</a:t>
            </a:r>
            <a:r>
              <a:rPr lang="en-US" dirty="0">
                <a:latin typeface="Times New Roman" panose="02020603050405020304" pitchFamily="18" charset="0"/>
                <a:cs typeface="Times New Roman" panose="02020603050405020304" pitchFamily="18" charset="0"/>
              </a:rPr>
              <a:t>: Integration complexity, digital literacy among farmers, IoT deployment</a:t>
            </a:r>
          </a:p>
          <a:p>
            <a:endParaRPr lang="en-US"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Improved transparency, price discovery, quality assurance, market access, and farmer livelihoods enhancement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016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Times New Roman" panose="02020603050405020304" pitchFamily="18" charset="0"/>
                <a:ea typeface="Cambria" panose="02040503050406030204" pitchFamily="18" charset="0"/>
                <a:cs typeface="Times New Roman" panose="02020603050405020304" pitchFamily="18" charset="0"/>
              </a:rPr>
              <a:t>References </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lvl="0" indent="-457200" eaLnBrk="0" fontAlgn="base" hangingPunct="0">
              <a:spcBef>
                <a:spcPct val="0"/>
              </a:spcBef>
              <a:spcAft>
                <a:spcPct val="0"/>
              </a:spcAft>
              <a:buClrTx/>
              <a:buSzTx/>
              <a:buFont typeface="+mj-lt"/>
              <a:buAutoNum type="arabicPeriod"/>
            </a:pP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R. Kumar, S. Patel, and M. Sharma, “IoT-enabled supply chain management system for agriculture produce,” IEEE Access, vol. 11, pp. 34567–34578, May 2023.</a:t>
            </a:r>
          </a:p>
          <a:p>
            <a:pPr lvl="0" indent="-457200" eaLnBrk="0" fontAlgn="base" hangingPunct="0">
              <a:spcBef>
                <a:spcPct val="0"/>
              </a:spcBef>
              <a:spcAft>
                <a:spcPct val="0"/>
              </a:spcAft>
              <a:buClrTx/>
              <a:buSzTx/>
              <a:buFont typeface="+mj-lt"/>
              <a:buAutoNum type="arabicPeriod"/>
            </a:pPr>
            <a:endPar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lvl="0" indent="-457200" eaLnBrk="0" fontAlgn="base" hangingPunct="0">
              <a:spcBef>
                <a:spcPct val="0"/>
              </a:spcBef>
              <a:spcAft>
                <a:spcPct val="0"/>
              </a:spcAft>
              <a:buClrTx/>
              <a:buSzTx/>
              <a:buFont typeface="+mj-lt"/>
              <a:buAutoNum type="arabicPeriod"/>
            </a:pP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S. Banerjee and P. Singh, “Blockchain-based traceability framework for textile industry,” Proc. 2022 Int. Conf. on Emerging Trends in Smart Technologies, pp. 102–108, IEEE, 2022.</a:t>
            </a:r>
          </a:p>
          <a:p>
            <a:pPr lvl="0" indent="-457200" eaLnBrk="0" fontAlgn="base" hangingPunct="0">
              <a:spcBef>
                <a:spcPct val="0"/>
              </a:spcBef>
              <a:spcAft>
                <a:spcPct val="0"/>
              </a:spcAft>
              <a:buClrTx/>
              <a:buSzTx/>
              <a:buFont typeface="+mj-lt"/>
              <a:buAutoNum type="arabicPeriod"/>
            </a:pPr>
            <a:endPar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lvl="0" indent="-457200" eaLnBrk="0" fontAlgn="base" hangingPunct="0">
              <a:spcBef>
                <a:spcPct val="0"/>
              </a:spcBef>
              <a:spcAft>
                <a:spcPct val="0"/>
              </a:spcAft>
              <a:buClrTx/>
              <a:buSzTx/>
              <a:buFont typeface="+mj-lt"/>
              <a:buAutoNum type="arabicPeriod"/>
            </a:pP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“Application Development for Monitoring of Wool from Farm to Fabric,” Int. J. Res. Publication and Reviews, vol. 5, no. 6, pp. 3273–3278, June 2024.</a:t>
            </a:r>
          </a:p>
          <a:p>
            <a:pPr lvl="0" indent="-457200" eaLnBrk="0" fontAlgn="base" hangingPunct="0">
              <a:spcBef>
                <a:spcPct val="0"/>
              </a:spcBef>
              <a:spcAft>
                <a:spcPct val="0"/>
              </a:spcAft>
              <a:buClrTx/>
              <a:buSzTx/>
              <a:buFont typeface="+mj-lt"/>
              <a:buAutoNum type="arabicPeriod"/>
            </a:pPr>
            <a:endPar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lvl="0" indent="-457200" eaLnBrk="0" fontAlgn="base" hangingPunct="0">
              <a:spcBef>
                <a:spcPct val="0"/>
              </a:spcBef>
              <a:spcAft>
                <a:spcPct val="0"/>
              </a:spcAft>
              <a:buClrTx/>
              <a:buSzTx/>
              <a:buFont typeface="+mj-lt"/>
              <a:buAutoNum type="arabicPeriod"/>
            </a:pP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“Web Based Monitoring of Wool from Farm to Fabric,” Int. J. Res. Publication and Reviews, vol. 5, no. 11, pp. 2012–2017, Nov 2024.</a:t>
            </a:r>
          </a:p>
          <a:p>
            <a:pPr lvl="0" indent="-457200" eaLnBrk="0" fontAlgn="base" hangingPunct="0">
              <a:spcBef>
                <a:spcPct val="0"/>
              </a:spcBef>
              <a:spcAft>
                <a:spcPct val="0"/>
              </a:spcAft>
              <a:buClrTx/>
              <a:buSzTx/>
              <a:buFont typeface="+mj-lt"/>
              <a:buAutoNum type="arabicPeriod"/>
            </a:pPr>
            <a:endPar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lvl="0" indent="-457200" eaLnBrk="0" fontAlgn="base" hangingPunct="0">
              <a:spcBef>
                <a:spcPct val="0"/>
              </a:spcBef>
              <a:spcAft>
                <a:spcPct val="0"/>
              </a:spcAft>
              <a:buClrTx/>
              <a:buSzTx/>
              <a:buFont typeface="+mj-lt"/>
              <a:buAutoNum type="arabicPeriod"/>
            </a:pP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H. M. Dawood, C. Bai, S. I. Zaman, M. </a:t>
            </a:r>
            <a:r>
              <a:rPr lang="en-US" altLang="en-US" sz="2000"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rPr>
              <a:t>Quayson</a:t>
            </a:r>
            <a:r>
              <a:rPr lang="en-US" alt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and C. Garcia, "Enabling the Integration of Industry 4.0 and Sustainable Supply Chain Management in the Textile Industry: A Framework and Evaluation Approach," IEEE Transactions on Engineering Management, vol. 71, pp. 14704-14717, Sept 2024.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1019</TotalTime>
  <Words>1402</Words>
  <Application>Microsoft Office PowerPoint</Application>
  <PresentationFormat>Widescreen</PresentationFormat>
  <Paragraphs>164</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Cambria</vt:lpstr>
      <vt:lpstr>Times New Roman</vt:lpstr>
      <vt:lpstr>Verdana</vt:lpstr>
      <vt:lpstr>Bioinformatics</vt:lpstr>
      <vt:lpstr> Batch Number:  CSE_142        Application Development for monitoring of wool from Farm to fabric </vt:lpstr>
      <vt:lpstr>Problem Statement Number:  PSCS_21 </vt:lpstr>
      <vt:lpstr>Abstract</vt:lpstr>
      <vt:lpstr>Objectives</vt:lpstr>
      <vt:lpstr>Literature Survey Overview</vt:lpstr>
      <vt:lpstr>Key Findings &amp; Research Gaps</vt:lpstr>
      <vt:lpstr>Existing Methods and Drawbacks</vt:lpstr>
      <vt:lpstr>Github Link</vt:lpstr>
      <vt:lpstr> Proposed Method &amp; Feasibility Study</vt:lpstr>
      <vt:lpstr>Architecture Diagram</vt:lpstr>
      <vt:lpstr>Modules</vt:lpstr>
      <vt:lpstr>Feasibility &amp; Justification</vt:lpstr>
      <vt:lpstr>Timeline of the Project (Gantt Chart)</vt:lpstr>
      <vt:lpstr>Challenges &amp; Expected Impact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Manjunatha M</cp:lastModifiedBy>
  <cp:revision>52</cp:revision>
  <dcterms:modified xsi:type="dcterms:W3CDTF">2025-12-01T08:39:27Z</dcterms:modified>
</cp:coreProperties>
</file>